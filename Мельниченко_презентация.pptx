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pn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74" r:id="rId4"/>
    <p:sldId id="275" r:id="rId5"/>
    <p:sldId id="261" r:id="rId6"/>
    <p:sldId id="272" r:id="rId7"/>
    <p:sldId id="276" r:id="rId8"/>
    <p:sldId id="277" r:id="rId9"/>
    <p:sldId id="273" r:id="rId10"/>
    <p:sldId id="278" r:id="rId11"/>
    <p:sldId id="269" r:id="rId12"/>
    <p:sldId id="279" r:id="rId13"/>
    <p:sldId id="280" r:id="rId14"/>
    <p:sldId id="281" r:id="rId15"/>
    <p:sldId id="260" r:id="rId16"/>
  </p:sldIdLst>
  <p:sldSz cx="12192000" cy="6858000"/>
  <p:notesSz cx="6858000" cy="9144000"/>
  <p:embeddedFontLst>
    <p:embeddedFont>
      <p:font typeface="Open Sans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347" userDrawn="1">
          <p15:clr>
            <a:srgbClr val="000000"/>
          </p15:clr>
        </p15:guide>
        <p15:guide id="3" orient="horz" pos="1344" userDrawn="1">
          <p15:clr>
            <a:srgbClr val="A4A3A4"/>
          </p15:clr>
        </p15:guide>
        <p15:guide id="4" orient="horz" pos="9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2fLzW2NWhC2ejww7VA5lENbgL/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3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A2"/>
    <a:srgbClr val="065CAB"/>
    <a:srgbClr val="D1D1D1"/>
    <a:srgbClr val="F1BE29"/>
    <a:srgbClr val="7BC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3" autoAdjust="0"/>
    <p:restoredTop sz="94660" autoAdjust="0"/>
  </p:normalViewPr>
  <p:slideViewPr>
    <p:cSldViewPr snapToGrid="0">
      <p:cViewPr varScale="1">
        <p:scale>
          <a:sx n="89" d="100"/>
          <a:sy n="89" d="100"/>
        </p:scale>
        <p:origin x="114" y="1146"/>
      </p:cViewPr>
      <p:guideLst>
        <p:guide pos="347"/>
        <p:guide orient="horz" pos="1344"/>
        <p:guide orient="horz" pos="9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userDrawn="1">
  <p:cSld name="TITLE">
    <p:bg>
      <p:bgRef idx="1001">
        <a:schemeClr val="bg1"/>
      </p:bgRef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8;p1">
            <a:extLst>
              <a:ext uri="{FF2B5EF4-FFF2-40B4-BE49-F238E27FC236}">
                <a16:creationId xmlns:a16="http://schemas.microsoft.com/office/drawing/2014/main" id="{2D925FD8-DECC-4CD6-B8C0-B1ADCC5FA20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B0283559-7C69-4037-A5DE-025458FA127C}"/>
              </a:ext>
            </a:extLst>
          </p:cNvPr>
          <p:cNvGrpSpPr/>
          <p:nvPr userDrawn="1"/>
        </p:nvGrpSpPr>
        <p:grpSpPr>
          <a:xfrm>
            <a:off x="694478" y="633067"/>
            <a:ext cx="9502816" cy="4706741"/>
            <a:chOff x="694478" y="633067"/>
            <a:chExt cx="9502816" cy="4706741"/>
          </a:xfrm>
        </p:grpSpPr>
        <p:pic>
          <p:nvPicPr>
            <p:cNvPr id="9" name="Google Shape;13;p5">
              <a:extLst>
                <a:ext uri="{FF2B5EF4-FFF2-40B4-BE49-F238E27FC236}">
                  <a16:creationId xmlns:a16="http://schemas.microsoft.com/office/drawing/2014/main" id="{2F2230A9-DF50-482B-98EE-86D3A472B57F}"/>
                </a:ext>
              </a:extLst>
            </p:cNvPr>
            <p:cNvPicPr preferRelativeResize="0"/>
            <p:nvPr userDrawn="1"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4481" y="633067"/>
              <a:ext cx="9502813" cy="470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967D30A-87B4-4421-A52A-46DC79DD78AC}"/>
                </a:ext>
              </a:extLst>
            </p:cNvPr>
            <p:cNvSpPr/>
            <p:nvPr userDrawn="1"/>
          </p:nvSpPr>
          <p:spPr>
            <a:xfrm>
              <a:off x="694478" y="5306991"/>
              <a:ext cx="9502813" cy="28800"/>
            </a:xfrm>
            <a:prstGeom prst="rect">
              <a:avLst/>
            </a:prstGeom>
            <a:solidFill>
              <a:srgbClr val="E6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0BDE73-1EE8-4C18-91ED-1CD26511FE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57539" y="611835"/>
            <a:ext cx="2361600" cy="721959"/>
          </a:xfrm>
          <a:prstGeom prst="rect">
            <a:avLst/>
          </a:prstGeom>
        </p:spPr>
      </p:pic>
      <p:sp>
        <p:nvSpPr>
          <p:cNvPr id="4" name="Google Shape;11;p5">
            <a:extLst>
              <a:ext uri="{FF2B5EF4-FFF2-40B4-BE49-F238E27FC236}">
                <a16:creationId xmlns:a16="http://schemas.microsoft.com/office/drawing/2014/main" id="{E3BFA7FB-261D-418C-AB36-0AE52A4CC41D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1078287" y="831273"/>
            <a:ext cx="9119010" cy="341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  <a:defRPr sz="4400" b="0">
                <a:solidFill>
                  <a:schemeClr val="lt1"/>
                </a:solidFill>
                <a:latin typeface="+mj-lt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dirty="0"/>
              <a:t>Заголовок слайда</a:t>
            </a:r>
            <a:endParaRPr dirty="0"/>
          </a:p>
        </p:txBody>
      </p:sp>
      <p:sp>
        <p:nvSpPr>
          <p:cNvPr id="5" name="Google Shape;12;p5">
            <a:extLst>
              <a:ext uri="{FF2B5EF4-FFF2-40B4-BE49-F238E27FC236}">
                <a16:creationId xmlns:a16="http://schemas.microsoft.com/office/drawing/2014/main" id="{84D6A78E-BD41-4E16-8DD7-8CD3958FF54B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1078286" y="4363657"/>
            <a:ext cx="9119010" cy="96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ru-RU" dirty="0"/>
              <a:t>Подзаголовок слайда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подзаголовок и объект" userDrawn="1">
  <p:cSld name="Заголовок, подзаголовок и объект">
    <p:bg>
      <p:bgRef idx="1001">
        <a:schemeClr val="bg1"/>
      </p:bgRef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body" idx="1" hasCustomPrompt="1"/>
          </p:nvPr>
        </p:nvSpPr>
        <p:spPr>
          <a:xfrm>
            <a:off x="558782" y="1778092"/>
            <a:ext cx="11196533" cy="447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2" hasCustomPrompt="1"/>
          </p:nvPr>
        </p:nvSpPr>
        <p:spPr>
          <a:xfrm>
            <a:off x="558782" y="118597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</a:p>
          <a:p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464BD804-D61C-41D4-836A-3F0D562072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дзаголовок и Сравнение" userDrawn="1">
  <p:cSld name="Подзаголовок и Сравнение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3;p17">
            <a:extLst>
              <a:ext uri="{FF2B5EF4-FFF2-40B4-BE49-F238E27FC236}">
                <a16:creationId xmlns:a16="http://schemas.microsoft.com/office/drawing/2014/main" id="{A3BCCEBD-8EA8-458F-9BC3-430C03DA2D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63245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  <p:sp>
        <p:nvSpPr>
          <p:cNvPr id="8" name="Google Shape;47;p11">
            <a:extLst>
              <a:ext uri="{FF2B5EF4-FFF2-40B4-BE49-F238E27FC236}">
                <a16:creationId xmlns:a16="http://schemas.microsoft.com/office/drawing/2014/main" id="{BE73FDE2-AD6D-4536-979A-DFD5A5A120FB}"/>
              </a:ext>
            </a:extLst>
          </p:cNvPr>
          <p:cNvSpPr txBox="1">
            <a:spLocks noGrp="1"/>
          </p:cNvSpPr>
          <p:nvPr>
            <p:ph type="body" idx="13" hasCustomPrompt="1"/>
          </p:nvPr>
        </p:nvSpPr>
        <p:spPr>
          <a:xfrm>
            <a:off x="558781" y="1770664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9" name="Google Shape;48;p11">
            <a:extLst>
              <a:ext uri="{FF2B5EF4-FFF2-40B4-BE49-F238E27FC236}">
                <a16:creationId xmlns:a16="http://schemas.microsoft.com/office/drawing/2014/main" id="{CDC7DB9F-D126-4C0F-900F-3ED455B7D4B6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6241899" y="1770664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30;p8">
            <a:extLst>
              <a:ext uri="{FF2B5EF4-FFF2-40B4-BE49-F238E27FC236}">
                <a16:creationId xmlns:a16="http://schemas.microsoft.com/office/drawing/2014/main" id="{0A0C615F-D144-44C1-91C6-0FB98026FAD0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558782" y="118597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Подзаголовок слайда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3;p17">
            <a:extLst>
              <a:ext uri="{FF2B5EF4-FFF2-40B4-BE49-F238E27FC236}">
                <a16:creationId xmlns:a16="http://schemas.microsoft.com/office/drawing/2014/main" id="{3C33CCE7-3AA5-4E4A-9FB4-1EE49FE9D8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3;p17">
            <a:extLst>
              <a:ext uri="{FF2B5EF4-FFF2-40B4-BE49-F238E27FC236}">
                <a16:creationId xmlns:a16="http://schemas.microsoft.com/office/drawing/2014/main" id="{0CA1A5D0-6F6B-4B83-84EB-024B06E2BB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текст и объект" userDrawn="1">
  <p:cSld name="Заголовок, текст и объект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 hasCustomPrompt="1"/>
          </p:nvPr>
        </p:nvSpPr>
        <p:spPr>
          <a:xfrm>
            <a:off x="5183187" y="1301263"/>
            <a:ext cx="6735185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2" hasCustomPrompt="1"/>
          </p:nvPr>
        </p:nvSpPr>
        <p:spPr>
          <a:xfrm>
            <a:off x="273628" y="1301263"/>
            <a:ext cx="4784147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 hasCustomPrompt="1"/>
          </p:nvPr>
        </p:nvSpPr>
        <p:spPr>
          <a:xfrm>
            <a:off x="273628" y="1213658"/>
            <a:ext cx="4702029" cy="84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pen Sans"/>
              <a:buNone/>
              <a:defRPr sz="2700">
                <a:latin typeface="ALS Sector Bold" pitchFamily="2" charset="0"/>
                <a:ea typeface="Open Sans"/>
                <a:cs typeface="ALS Sector Bold" pitchFamily="2" charset="0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z="2700" dirty="0"/>
              <a:t>Заголовок слайда</a:t>
            </a: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 hasCustomPrompt="1"/>
          </p:nvPr>
        </p:nvSpPr>
        <p:spPr>
          <a:xfrm>
            <a:off x="5183187" y="311727"/>
            <a:ext cx="6735185" cy="5549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700">
                <a:latin typeface="ALS Sector Regular" panose="02000000000000000000" pitchFamily="2" charset="0"/>
                <a:cs typeface="ALS Sector Regular" panose="02000000000000000000" pitchFamily="2" charset="0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2" hasCustomPrompt="1"/>
          </p:nvPr>
        </p:nvSpPr>
        <p:spPr>
          <a:xfrm>
            <a:off x="273628" y="2057400"/>
            <a:ext cx="470202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1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375ED264-9BE6-45D1-BEF5-3485B756C4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 hasCustomPrompt="1"/>
          </p:nvPr>
        </p:nvSpPr>
        <p:spPr>
          <a:xfrm>
            <a:off x="322118" y="1197033"/>
            <a:ext cx="4449907" cy="860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 sz="2700">
                <a:latin typeface="ALS Sector Bold" pitchFamily="2" charset="0"/>
                <a:ea typeface="Open Sans"/>
                <a:cs typeface="ALS Sector Bold" pitchFamily="2" charset="0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z="2700" dirty="0"/>
              <a:t>Заголовок слайда</a:t>
            </a:r>
            <a:endParaRPr dirty="0"/>
          </a:p>
        </p:txBody>
      </p:sp>
      <p:sp>
        <p:nvSpPr>
          <p:cNvPr id="86" name="Google Shape;86;p18"/>
          <p:cNvSpPr>
            <a:spLocks noGrp="1"/>
          </p:cNvSpPr>
          <p:nvPr>
            <p:ph type="pic" idx="2" hasCustomPrompt="1"/>
          </p:nvPr>
        </p:nvSpPr>
        <p:spPr>
          <a:xfrm>
            <a:off x="5287096" y="238509"/>
            <a:ext cx="6582785" cy="562730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>
            <a:normAutofit/>
          </a:bodyPr>
          <a:lstStyle>
            <a:lvl1pPr>
              <a:defRPr sz="2300">
                <a:latin typeface="ALS Sector Regular" panose="02000000000000000000" pitchFamily="2" charset="0"/>
                <a:cs typeface="ALS Sector Regular" panose="02000000000000000000" pitchFamily="2" charset="0"/>
              </a:defRPr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 hasCustomPrompt="1"/>
          </p:nvPr>
        </p:nvSpPr>
        <p:spPr>
          <a:xfrm>
            <a:off x="322118" y="2057400"/>
            <a:ext cx="444990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1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BB71C74F-A570-498D-A002-6D7C372C65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крывающий слайд пустой" userDrawn="1">
  <p:cSld name="Закрывающий слайд пустой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88;p1">
            <a:extLst>
              <a:ext uri="{FF2B5EF4-FFF2-40B4-BE49-F238E27FC236}">
                <a16:creationId xmlns:a16="http://schemas.microsoft.com/office/drawing/2014/main" id="{12BBAE2F-1E25-4B32-9650-086D0CA2FE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857A83-5237-42B9-BA8A-BF8F445C1D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5410" y="2096584"/>
            <a:ext cx="1332000" cy="1332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F32500-0827-4423-A3B8-9538CB7A7CD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8526" y="2042584"/>
            <a:ext cx="4710383" cy="1440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5D1BD65-59E0-46AC-BC24-1B28D1FA30E4}"/>
              </a:ext>
            </a:extLst>
          </p:cNvPr>
          <p:cNvSpPr txBox="1"/>
          <p:nvPr userDrawn="1"/>
        </p:nvSpPr>
        <p:spPr>
          <a:xfrm>
            <a:off x="7849902" y="2522519"/>
            <a:ext cx="3048512" cy="4801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  <a:latin typeface="ALS Sector Bold" pitchFamily="2" charset="0"/>
                <a:ea typeface="Roboto Black" panose="02000000000000000000" pitchFamily="2" charset="0"/>
              </a:rPr>
              <a:t>do.bmstu.ru</a:t>
            </a:r>
            <a:endParaRPr lang="ru-RU" sz="2800" dirty="0">
              <a:solidFill>
                <a:schemeClr val="bg1"/>
              </a:solidFill>
              <a:latin typeface="ALS Sector Bold" pitchFamily="2" charset="0"/>
              <a:ea typeface="Roboto Black" panose="02000000000000000000" pitchFamily="2" charset="0"/>
            </a:endParaRPr>
          </a:p>
        </p:txBody>
      </p:sp>
      <p:sp>
        <p:nvSpPr>
          <p:cNvPr id="32" name="Прямоугольник 58">
            <a:extLst>
              <a:ext uri="{FF2B5EF4-FFF2-40B4-BE49-F238E27FC236}">
                <a16:creationId xmlns:a16="http://schemas.microsoft.com/office/drawing/2014/main" id="{046CF162-1BBC-4CF7-9474-D6A32C635F92}"/>
              </a:ext>
            </a:extLst>
          </p:cNvPr>
          <p:cNvSpPr/>
          <p:nvPr userDrawn="1"/>
        </p:nvSpPr>
        <p:spPr>
          <a:xfrm flipH="1">
            <a:off x="10711835" y="2096584"/>
            <a:ext cx="130790" cy="1332000"/>
          </a:xfrm>
          <a:custGeom>
            <a:avLst/>
            <a:gdLst>
              <a:gd name="connsiteX0" fmla="*/ 0 w 424732"/>
              <a:gd name="connsiteY0" fmla="*/ 0 h 424732"/>
              <a:gd name="connsiteX1" fmla="*/ 424732 w 424732"/>
              <a:gd name="connsiteY1" fmla="*/ 0 h 424732"/>
              <a:gd name="connsiteX2" fmla="*/ 424732 w 424732"/>
              <a:gd name="connsiteY2" fmla="*/ 424732 h 424732"/>
              <a:gd name="connsiteX3" fmla="*/ 0 w 424732"/>
              <a:gd name="connsiteY3" fmla="*/ 424732 h 424732"/>
              <a:gd name="connsiteX4" fmla="*/ 0 w 424732"/>
              <a:gd name="connsiteY4" fmla="*/ 0 h 424732"/>
              <a:gd name="connsiteX0" fmla="*/ 0 w 425450"/>
              <a:gd name="connsiteY0" fmla="*/ 0 h 424732"/>
              <a:gd name="connsiteX1" fmla="*/ 424732 w 425450"/>
              <a:gd name="connsiteY1" fmla="*/ 0 h 424732"/>
              <a:gd name="connsiteX2" fmla="*/ 425450 w 425450"/>
              <a:gd name="connsiteY2" fmla="*/ 238890 h 424732"/>
              <a:gd name="connsiteX3" fmla="*/ 424732 w 425450"/>
              <a:gd name="connsiteY3" fmla="*/ 424732 h 424732"/>
              <a:gd name="connsiteX4" fmla="*/ 0 w 425450"/>
              <a:gd name="connsiteY4" fmla="*/ 424732 h 424732"/>
              <a:gd name="connsiteX5" fmla="*/ 0 w 425450"/>
              <a:gd name="connsiteY5" fmla="*/ 0 h 424732"/>
              <a:gd name="connsiteX0" fmla="*/ 425450 w 516890"/>
              <a:gd name="connsiteY0" fmla="*/ 238890 h 424732"/>
              <a:gd name="connsiteX1" fmla="*/ 424732 w 516890"/>
              <a:gd name="connsiteY1" fmla="*/ 424732 h 424732"/>
              <a:gd name="connsiteX2" fmla="*/ 0 w 516890"/>
              <a:gd name="connsiteY2" fmla="*/ 424732 h 424732"/>
              <a:gd name="connsiteX3" fmla="*/ 0 w 516890"/>
              <a:gd name="connsiteY3" fmla="*/ 0 h 424732"/>
              <a:gd name="connsiteX4" fmla="*/ 424732 w 516890"/>
              <a:gd name="connsiteY4" fmla="*/ 0 h 424732"/>
              <a:gd name="connsiteX5" fmla="*/ 516890 w 516890"/>
              <a:gd name="connsiteY5" fmla="*/ 330330 h 424732"/>
              <a:gd name="connsiteX0" fmla="*/ 424732 w 516890"/>
              <a:gd name="connsiteY0" fmla="*/ 424732 h 424732"/>
              <a:gd name="connsiteX1" fmla="*/ 0 w 516890"/>
              <a:gd name="connsiteY1" fmla="*/ 424732 h 424732"/>
              <a:gd name="connsiteX2" fmla="*/ 0 w 516890"/>
              <a:gd name="connsiteY2" fmla="*/ 0 h 424732"/>
              <a:gd name="connsiteX3" fmla="*/ 424732 w 516890"/>
              <a:gd name="connsiteY3" fmla="*/ 0 h 424732"/>
              <a:gd name="connsiteX4" fmla="*/ 516890 w 516890"/>
              <a:gd name="connsiteY4" fmla="*/ 330330 h 424732"/>
              <a:gd name="connsiteX0" fmla="*/ 424732 w 424732"/>
              <a:gd name="connsiteY0" fmla="*/ 424732 h 424732"/>
              <a:gd name="connsiteX1" fmla="*/ 0 w 424732"/>
              <a:gd name="connsiteY1" fmla="*/ 424732 h 424732"/>
              <a:gd name="connsiteX2" fmla="*/ 0 w 424732"/>
              <a:gd name="connsiteY2" fmla="*/ 0 h 424732"/>
              <a:gd name="connsiteX3" fmla="*/ 424732 w 424732"/>
              <a:gd name="connsiteY3" fmla="*/ 0 h 42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732" h="424732">
                <a:moveTo>
                  <a:pt x="424732" y="424732"/>
                </a:moveTo>
                <a:lnTo>
                  <a:pt x="0" y="424732"/>
                </a:lnTo>
                <a:lnTo>
                  <a:pt x="0" y="0"/>
                </a:lnTo>
                <a:lnTo>
                  <a:pt x="424732" y="0"/>
                </a:lnTo>
              </a:path>
            </a:pathLst>
          </a:cu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latin typeface="ALS Sector Regular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8EEF78-8EFF-47ED-8447-A3A1F67B89B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20566" y="446017"/>
            <a:ext cx="2361600" cy="722882"/>
          </a:xfrm>
          <a:prstGeom prst="rect">
            <a:avLst/>
          </a:prstGeom>
        </p:spPr>
      </p:pic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20566" y="1301777"/>
            <a:ext cx="11350868" cy="49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dirty="0"/>
              <a:t>Текст слайда</a:t>
            </a:r>
            <a:endParaRPr lang="en-US" sz="2300" dirty="0">
              <a:latin typeface="ALS Sector Regular" panose="02000000000000000000" pitchFamily="2" charset="0"/>
              <a:cs typeface="ALS Sector Regular" panose="02000000000000000000" pitchFamily="2" charset="0"/>
            </a:endParaRPr>
          </a:p>
          <a:p>
            <a:endParaRPr dirty="0"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68287" y="6360806"/>
            <a:ext cx="8381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+mj-lt"/>
                <a:ea typeface="Open Sans"/>
                <a:cs typeface="Open Sans"/>
                <a:sym typeface="Open Sans"/>
              </a:defRPr>
            </a:lvl1pPr>
            <a:lvl2pPr marL="0" marR="0" lvl="1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7" r:id="rId3"/>
    <p:sldLayoutId id="2147483658" r:id="rId4"/>
    <p:sldLayoutId id="2147483659" r:id="rId5"/>
    <p:sldLayoutId id="2147483661" r:id="rId6"/>
    <p:sldLayoutId id="2147483660" r:id="rId7"/>
    <p:sldLayoutId id="2147483662" r:id="rId8"/>
    <p:sldLayoutId id="2147483651" r:id="rId9"/>
  </p:sldLayoutIdLst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762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300" b="0" i="0" u="none" strike="noStrike" cap="none" baseline="0">
          <a:solidFill>
            <a:srgbClr val="000000"/>
          </a:solidFill>
          <a:latin typeface="+mn-lt"/>
          <a:ea typeface="ALS Sector Regular" panose="02000000000000000000" pitchFamily="2" charset="0"/>
          <a:cs typeface="ALS Sector Regular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4598A-8D69-4EDC-8A16-7BF4EA8474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Прогнозирование конечных свойств композиционных материалов</a:t>
            </a:r>
            <a:endParaRPr lang="ru-RU" dirty="0">
              <a:latin typeface="+mj-l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C45695-17CA-4F1C-9AC0-19290977F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286" y="4363658"/>
            <a:ext cx="9119010" cy="874168"/>
          </a:xfrm>
        </p:spPr>
        <p:txBody>
          <a:bodyPr/>
          <a:lstStyle/>
          <a:p>
            <a:r>
              <a:rPr lang="ru-RU" dirty="0">
                <a:latin typeface="+mn-lt"/>
              </a:rPr>
              <a:t>Мельниченко Мария Николаевна 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9280711C-2262-4089-92EE-9BEACCC60C4C}"/>
              </a:ext>
            </a:extLst>
          </p:cNvPr>
          <p:cNvGrpSpPr/>
          <p:nvPr/>
        </p:nvGrpSpPr>
        <p:grpSpPr>
          <a:xfrm>
            <a:off x="3167879" y="453209"/>
            <a:ext cx="5306153" cy="682084"/>
            <a:chOff x="1476753" y="3483585"/>
            <a:chExt cx="4619247" cy="682084"/>
          </a:xfrm>
        </p:grpSpPr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id="{E2535886-3476-4B40-9706-6797B77905C0}"/>
                </a:ext>
              </a:extLst>
            </p:cNvPr>
            <p:cNvSpPr/>
            <p:nvPr/>
          </p:nvSpPr>
          <p:spPr>
            <a:xfrm>
              <a:off x="1476753" y="3483585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Актуальность и цель работы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69" name="Прямоугольник 58">
              <a:extLst>
                <a:ext uri="{FF2B5EF4-FFF2-40B4-BE49-F238E27FC236}">
                  <a16:creationId xmlns:a16="http://schemas.microsoft.com/office/drawing/2014/main" id="{96789138-2397-49AA-BF3A-A6B5B90E884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70" name="Прямоугольник 58">
              <a:extLst>
                <a:ext uri="{FF2B5EF4-FFF2-40B4-BE49-F238E27FC236}">
                  <a16:creationId xmlns:a16="http://schemas.microsoft.com/office/drawing/2014/main" id="{DA239952-60E1-45EB-BDF0-422CC4CF7E4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555008-558A-4705-ADA6-A99A535D9A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</a:t>
            </a:fld>
            <a:endParaRPr lang="ru-RU" dirty="0"/>
          </a:p>
        </p:txBody>
      </p:sp>
      <p:sp>
        <p:nvSpPr>
          <p:cNvPr id="11" name="Google Shape;125;p4">
            <a:extLst>
              <a:ext uri="{FF2B5EF4-FFF2-40B4-BE49-F238E27FC236}">
                <a16:creationId xmlns:a16="http://schemas.microsoft.com/office/drawing/2014/main" id="{60669A83-F90E-4A4C-BA00-13CC73D4042F}"/>
              </a:ext>
            </a:extLst>
          </p:cNvPr>
          <p:cNvSpPr/>
          <p:nvPr/>
        </p:nvSpPr>
        <p:spPr>
          <a:xfrm>
            <a:off x="1382780" y="1554136"/>
            <a:ext cx="621790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Проблема: </a:t>
            </a:r>
            <a:r>
              <a:rPr lang="ru-RU" sz="1600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создание новых композитов требует дорогих физических испытаний</a:t>
            </a:r>
            <a:endParaRPr sz="1600" dirty="0">
              <a:solidFill>
                <a:srgbClr val="262626"/>
              </a:solidFill>
              <a:latin typeface="ALS Sector Regular" panose="02000000000000000000" pitchFamily="2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066B2AF8-B3BB-4E6C-B4EF-BA91A7149C6E}"/>
              </a:ext>
            </a:extLst>
          </p:cNvPr>
          <p:cNvGrpSpPr/>
          <p:nvPr/>
        </p:nvGrpSpPr>
        <p:grpSpPr>
          <a:xfrm>
            <a:off x="558782" y="2489251"/>
            <a:ext cx="450202" cy="685765"/>
            <a:chOff x="623996" y="1592262"/>
            <a:chExt cx="333947" cy="508681"/>
          </a:xfrm>
        </p:grpSpPr>
        <p:cxnSp>
          <p:nvCxnSpPr>
            <p:cNvPr id="37" name="Google Shape;123;p4">
              <a:extLst>
                <a:ext uri="{FF2B5EF4-FFF2-40B4-BE49-F238E27FC236}">
                  <a16:creationId xmlns:a16="http://schemas.microsoft.com/office/drawing/2014/main" id="{B2BB743C-20D7-4E69-AAE1-54C42970370B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124;p4">
              <a:extLst>
                <a:ext uri="{FF2B5EF4-FFF2-40B4-BE49-F238E27FC236}">
                  <a16:creationId xmlns:a16="http://schemas.microsoft.com/office/drawing/2014/main" id="{A09E8948-234F-49EF-B8ED-B3C480E04917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" name="Google Shape;126;p4">
              <a:extLst>
                <a:ext uri="{FF2B5EF4-FFF2-40B4-BE49-F238E27FC236}">
                  <a16:creationId xmlns:a16="http://schemas.microsoft.com/office/drawing/2014/main" id="{DE776E1C-0C20-43D2-8A38-628879EB82A4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A61F8772-5670-475E-90AF-084D02A24E45}"/>
              </a:ext>
            </a:extLst>
          </p:cNvPr>
          <p:cNvGrpSpPr/>
          <p:nvPr/>
        </p:nvGrpSpPr>
        <p:grpSpPr>
          <a:xfrm>
            <a:off x="558782" y="3443265"/>
            <a:ext cx="450202" cy="685765"/>
            <a:chOff x="623996" y="1592262"/>
            <a:chExt cx="333947" cy="508681"/>
          </a:xfrm>
        </p:grpSpPr>
        <p:cxnSp>
          <p:nvCxnSpPr>
            <p:cNvPr id="41" name="Google Shape;123;p4">
              <a:extLst>
                <a:ext uri="{FF2B5EF4-FFF2-40B4-BE49-F238E27FC236}">
                  <a16:creationId xmlns:a16="http://schemas.microsoft.com/office/drawing/2014/main" id="{31FD4C9E-5F69-4810-A00B-E211610CB36A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124;p4">
              <a:extLst>
                <a:ext uri="{FF2B5EF4-FFF2-40B4-BE49-F238E27FC236}">
                  <a16:creationId xmlns:a16="http://schemas.microsoft.com/office/drawing/2014/main" id="{1B688AC3-F620-4E8E-B8F1-1B14FAE7C0C2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126;p4">
              <a:extLst>
                <a:ext uri="{FF2B5EF4-FFF2-40B4-BE49-F238E27FC236}">
                  <a16:creationId xmlns:a16="http://schemas.microsoft.com/office/drawing/2014/main" id="{87B9060E-A604-4528-B297-A9EBC00AAAD6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90E0740F-EFCD-41F2-8EB0-E752773D0AE6}"/>
              </a:ext>
            </a:extLst>
          </p:cNvPr>
          <p:cNvGrpSpPr/>
          <p:nvPr/>
        </p:nvGrpSpPr>
        <p:grpSpPr>
          <a:xfrm>
            <a:off x="560162" y="4407979"/>
            <a:ext cx="450202" cy="685765"/>
            <a:chOff x="623996" y="1592262"/>
            <a:chExt cx="333947" cy="508681"/>
          </a:xfrm>
        </p:grpSpPr>
        <p:cxnSp>
          <p:nvCxnSpPr>
            <p:cNvPr id="45" name="Google Shape;123;p4">
              <a:extLst>
                <a:ext uri="{FF2B5EF4-FFF2-40B4-BE49-F238E27FC236}">
                  <a16:creationId xmlns:a16="http://schemas.microsoft.com/office/drawing/2014/main" id="{5C8D2F6A-BB2A-49FD-B94C-250EB763B066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" name="Google Shape;124;p4">
              <a:extLst>
                <a:ext uri="{FF2B5EF4-FFF2-40B4-BE49-F238E27FC236}">
                  <a16:creationId xmlns:a16="http://schemas.microsoft.com/office/drawing/2014/main" id="{EB043BAB-1826-41DB-A7FE-AAA09C039F9C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" name="Google Shape;126;p4">
              <a:extLst>
                <a:ext uri="{FF2B5EF4-FFF2-40B4-BE49-F238E27FC236}">
                  <a16:creationId xmlns:a16="http://schemas.microsoft.com/office/drawing/2014/main" id="{24ECB75A-09F9-43A5-8D25-D348344E60BF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C1DE16C2-2172-463A-93BA-EA11B2417C83}"/>
              </a:ext>
            </a:extLst>
          </p:cNvPr>
          <p:cNvGrpSpPr/>
          <p:nvPr/>
        </p:nvGrpSpPr>
        <p:grpSpPr>
          <a:xfrm>
            <a:off x="558782" y="5383393"/>
            <a:ext cx="450202" cy="685765"/>
            <a:chOff x="623996" y="1592262"/>
            <a:chExt cx="333947" cy="508681"/>
          </a:xfrm>
        </p:grpSpPr>
        <p:cxnSp>
          <p:nvCxnSpPr>
            <p:cNvPr id="49" name="Google Shape;123;p4">
              <a:extLst>
                <a:ext uri="{FF2B5EF4-FFF2-40B4-BE49-F238E27FC236}">
                  <a16:creationId xmlns:a16="http://schemas.microsoft.com/office/drawing/2014/main" id="{73882629-1BAE-438B-9802-2EDD583F7F1E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" name="Google Shape;124;p4">
              <a:extLst>
                <a:ext uri="{FF2B5EF4-FFF2-40B4-BE49-F238E27FC236}">
                  <a16:creationId xmlns:a16="http://schemas.microsoft.com/office/drawing/2014/main" id="{590F5074-56E7-4E5F-A651-A7E31BD5FFBA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" name="Google Shape;126;p4">
              <a:extLst>
                <a:ext uri="{FF2B5EF4-FFF2-40B4-BE49-F238E27FC236}">
                  <a16:creationId xmlns:a16="http://schemas.microsoft.com/office/drawing/2014/main" id="{A2CA7045-D48F-4328-8FF7-FF8E4D8ABC12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2" name="Google Shape;125;p4">
            <a:extLst>
              <a:ext uri="{FF2B5EF4-FFF2-40B4-BE49-F238E27FC236}">
                <a16:creationId xmlns:a16="http://schemas.microsoft.com/office/drawing/2014/main" id="{B392D556-B476-4E1F-958C-31EE7B16300D}"/>
              </a:ext>
            </a:extLst>
          </p:cNvPr>
          <p:cNvSpPr/>
          <p:nvPr/>
        </p:nvSpPr>
        <p:spPr>
          <a:xfrm>
            <a:off x="1408143" y="2658429"/>
            <a:ext cx="621790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Идея: </a:t>
            </a:r>
            <a:r>
              <a:rPr lang="ru-RU" sz="1600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заменить часть испытаний прогнозными</a:t>
            </a:r>
            <a:r>
              <a:rPr lang="en-US" sz="1600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 ML-</a:t>
            </a:r>
            <a:r>
              <a:rPr lang="ru-RU" sz="1600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моделями </a:t>
            </a:r>
            <a:endParaRPr lang="ru-RU" sz="1600" dirty="0">
              <a:solidFill>
                <a:srgbClr val="262626"/>
              </a:solidFill>
              <a:latin typeface="ALS Sector Regular" panose="02000000000000000000" pitchFamily="2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53" name="Google Shape;127;p4">
            <a:extLst>
              <a:ext uri="{FF2B5EF4-FFF2-40B4-BE49-F238E27FC236}">
                <a16:creationId xmlns:a16="http://schemas.microsoft.com/office/drawing/2014/main" id="{BCF65B5B-0337-4C73-B9BB-A05F6916D064}"/>
              </a:ext>
            </a:extLst>
          </p:cNvPr>
          <p:cNvSpPr/>
          <p:nvPr/>
        </p:nvSpPr>
        <p:spPr>
          <a:xfrm>
            <a:off x="843937" y="2739873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2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4" name="Google Shape;125;p4">
            <a:extLst>
              <a:ext uri="{FF2B5EF4-FFF2-40B4-BE49-F238E27FC236}">
                <a16:creationId xmlns:a16="http://schemas.microsoft.com/office/drawing/2014/main" id="{4BBDCECC-7AC6-4E39-B4A9-A7C1308CD1E4}"/>
              </a:ext>
            </a:extLst>
          </p:cNvPr>
          <p:cNvSpPr/>
          <p:nvPr/>
        </p:nvSpPr>
        <p:spPr>
          <a:xfrm>
            <a:off x="1408143" y="3616890"/>
            <a:ext cx="621790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Значимость: </a:t>
            </a:r>
            <a:r>
              <a:rPr lang="ru-RU" sz="1600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ускорение разработки и пополнение базы цифровых двойников </a:t>
            </a:r>
            <a:endParaRPr lang="ru-RU" sz="1600" dirty="0">
              <a:solidFill>
                <a:srgbClr val="262626"/>
              </a:solidFill>
              <a:latin typeface="ALS Sector Regular" panose="02000000000000000000" pitchFamily="2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55" name="Google Shape;127;p4">
            <a:extLst>
              <a:ext uri="{FF2B5EF4-FFF2-40B4-BE49-F238E27FC236}">
                <a16:creationId xmlns:a16="http://schemas.microsoft.com/office/drawing/2014/main" id="{09A3BA78-83A5-439F-80AC-98893E52CA81}"/>
              </a:ext>
            </a:extLst>
          </p:cNvPr>
          <p:cNvSpPr/>
          <p:nvPr/>
        </p:nvSpPr>
        <p:spPr>
          <a:xfrm>
            <a:off x="843937" y="3709719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3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6" name="Google Shape;125;p4">
            <a:extLst>
              <a:ext uri="{FF2B5EF4-FFF2-40B4-BE49-F238E27FC236}">
                <a16:creationId xmlns:a16="http://schemas.microsoft.com/office/drawing/2014/main" id="{3DDF0676-49DA-46BC-9B49-E63651936BD7}"/>
              </a:ext>
            </a:extLst>
          </p:cNvPr>
          <p:cNvSpPr/>
          <p:nvPr/>
        </p:nvSpPr>
        <p:spPr>
          <a:xfrm>
            <a:off x="1408143" y="4468078"/>
            <a:ext cx="621790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Цель: </a:t>
            </a:r>
            <a:r>
              <a:rPr lang="ru-RU" sz="1600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прогнозировать свойства композитов и рекомендовать соотношение матрица-наполнитель </a:t>
            </a:r>
            <a:endParaRPr lang="ru-RU" sz="1600" dirty="0">
              <a:solidFill>
                <a:srgbClr val="262626"/>
              </a:solidFill>
              <a:latin typeface="ALS Sector Regular" panose="02000000000000000000" pitchFamily="2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57" name="Google Shape;127;p4">
            <a:extLst>
              <a:ext uri="{FF2B5EF4-FFF2-40B4-BE49-F238E27FC236}">
                <a16:creationId xmlns:a16="http://schemas.microsoft.com/office/drawing/2014/main" id="{52BA7844-74CD-4A10-A920-4E6A0D827A2C}"/>
              </a:ext>
            </a:extLst>
          </p:cNvPr>
          <p:cNvSpPr/>
          <p:nvPr/>
        </p:nvSpPr>
        <p:spPr>
          <a:xfrm>
            <a:off x="843937" y="4677149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4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8" name="Google Shape;125;p4">
            <a:extLst>
              <a:ext uri="{FF2B5EF4-FFF2-40B4-BE49-F238E27FC236}">
                <a16:creationId xmlns:a16="http://schemas.microsoft.com/office/drawing/2014/main" id="{5196AA80-638D-487F-983B-0DA60BA9BE05}"/>
              </a:ext>
            </a:extLst>
          </p:cNvPr>
          <p:cNvSpPr/>
          <p:nvPr/>
        </p:nvSpPr>
        <p:spPr>
          <a:xfrm>
            <a:off x="1370181" y="5427886"/>
            <a:ext cx="621790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Данные: </a:t>
            </a:r>
            <a:r>
              <a:rPr lang="ru-RU" sz="1600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производственный кейс Центра НТИ «Цифровое </a:t>
            </a:r>
            <a:r>
              <a:rPr lang="ru-RU" sz="1600" dirty="0" err="1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материаловедние</a:t>
            </a:r>
            <a:r>
              <a:rPr lang="ru-RU" sz="1600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» МГТУ им. Н.Э. Баумана </a:t>
            </a:r>
            <a:endParaRPr lang="ru-RU" sz="1600" dirty="0">
              <a:solidFill>
                <a:srgbClr val="262626"/>
              </a:solidFill>
              <a:latin typeface="ALS Sector Regular" panose="02000000000000000000" pitchFamily="2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59" name="Google Shape;127;p4">
            <a:extLst>
              <a:ext uri="{FF2B5EF4-FFF2-40B4-BE49-F238E27FC236}">
                <a16:creationId xmlns:a16="http://schemas.microsoft.com/office/drawing/2014/main" id="{6CBDF430-C68B-42FA-BC4A-87935642BB35}"/>
              </a:ext>
            </a:extLst>
          </p:cNvPr>
          <p:cNvSpPr/>
          <p:nvPr/>
        </p:nvSpPr>
        <p:spPr>
          <a:xfrm>
            <a:off x="836823" y="5618307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5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CEB208F7-621F-4826-AC02-D9ACF56C2556}"/>
              </a:ext>
            </a:extLst>
          </p:cNvPr>
          <p:cNvGrpSpPr/>
          <p:nvPr/>
        </p:nvGrpSpPr>
        <p:grpSpPr>
          <a:xfrm>
            <a:off x="558782" y="1503622"/>
            <a:ext cx="450202" cy="685765"/>
            <a:chOff x="623996" y="1592262"/>
            <a:chExt cx="333947" cy="508681"/>
          </a:xfrm>
        </p:grpSpPr>
        <p:cxnSp>
          <p:nvCxnSpPr>
            <p:cNvPr id="61" name="Google Shape;123;p4">
              <a:extLst>
                <a:ext uri="{FF2B5EF4-FFF2-40B4-BE49-F238E27FC236}">
                  <a16:creationId xmlns:a16="http://schemas.microsoft.com/office/drawing/2014/main" id="{C80DFF66-7760-463A-A6E3-7A4A06739A6B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" name="Google Shape;124;p4">
              <a:extLst>
                <a:ext uri="{FF2B5EF4-FFF2-40B4-BE49-F238E27FC236}">
                  <a16:creationId xmlns:a16="http://schemas.microsoft.com/office/drawing/2014/main" id="{537A8DBB-64CB-4C54-9816-C8AB9CEF9F83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126;p4">
              <a:extLst>
                <a:ext uri="{FF2B5EF4-FFF2-40B4-BE49-F238E27FC236}">
                  <a16:creationId xmlns:a16="http://schemas.microsoft.com/office/drawing/2014/main" id="{5EA94F71-5A4A-461B-84A6-89FA43FE7B61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4" name="Google Shape;127;p4">
            <a:extLst>
              <a:ext uri="{FF2B5EF4-FFF2-40B4-BE49-F238E27FC236}">
                <a16:creationId xmlns:a16="http://schemas.microsoft.com/office/drawing/2014/main" id="{52F47E68-BBBA-4D50-92F9-0A84552519B8}"/>
              </a:ext>
            </a:extLst>
          </p:cNvPr>
          <p:cNvSpPr/>
          <p:nvPr/>
        </p:nvSpPr>
        <p:spPr>
          <a:xfrm>
            <a:off x="843937" y="1754244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1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3928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9280711C-2262-4089-92EE-9BEACCC60C4C}"/>
              </a:ext>
            </a:extLst>
          </p:cNvPr>
          <p:cNvGrpSpPr/>
          <p:nvPr/>
        </p:nvGrpSpPr>
        <p:grpSpPr>
          <a:xfrm>
            <a:off x="3167879" y="453208"/>
            <a:ext cx="3662579" cy="795559"/>
            <a:chOff x="1476753" y="3483585"/>
            <a:chExt cx="4619247" cy="682084"/>
          </a:xfrm>
        </p:grpSpPr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id="{E2535886-3476-4B40-9706-6797B77905C0}"/>
                </a:ext>
              </a:extLst>
            </p:cNvPr>
            <p:cNvSpPr/>
            <p:nvPr/>
          </p:nvSpPr>
          <p:spPr>
            <a:xfrm>
              <a:off x="1476753" y="3483585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Задачи работы 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69" name="Прямоугольник 58">
              <a:extLst>
                <a:ext uri="{FF2B5EF4-FFF2-40B4-BE49-F238E27FC236}">
                  <a16:creationId xmlns:a16="http://schemas.microsoft.com/office/drawing/2014/main" id="{96789138-2397-49AA-BF3A-A6B5B90E884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70" name="Прямоугольник 58">
              <a:extLst>
                <a:ext uri="{FF2B5EF4-FFF2-40B4-BE49-F238E27FC236}">
                  <a16:creationId xmlns:a16="http://schemas.microsoft.com/office/drawing/2014/main" id="{DA239952-60E1-45EB-BDF0-422CC4CF7E4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555008-558A-4705-ADA6-A99A535D9A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</a:t>
            </a:fld>
            <a:endParaRPr lang="ru-RU" dirty="0"/>
          </a:p>
        </p:txBody>
      </p:sp>
      <p:sp>
        <p:nvSpPr>
          <p:cNvPr id="11" name="Google Shape;125;p4">
            <a:extLst>
              <a:ext uri="{FF2B5EF4-FFF2-40B4-BE49-F238E27FC236}">
                <a16:creationId xmlns:a16="http://schemas.microsoft.com/office/drawing/2014/main" id="{60669A83-F90E-4A4C-BA00-13CC73D4042F}"/>
              </a:ext>
            </a:extLst>
          </p:cNvPr>
          <p:cNvSpPr/>
          <p:nvPr/>
        </p:nvSpPr>
        <p:spPr>
          <a:xfrm>
            <a:off x="1370181" y="1520654"/>
            <a:ext cx="621790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Обучить модель прогнозирования модуля упругости при растяжении (ГПа)</a:t>
            </a:r>
            <a:endParaRPr sz="1600" dirty="0">
              <a:solidFill>
                <a:srgbClr val="262626"/>
              </a:solidFill>
              <a:latin typeface="ALS Sector Regular" panose="02000000000000000000" pitchFamily="2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34" name="Google Shape;149;p4">
            <a:extLst>
              <a:ext uri="{FF2B5EF4-FFF2-40B4-BE49-F238E27FC236}">
                <a16:creationId xmlns:a16="http://schemas.microsoft.com/office/drawing/2014/main" id="{E8524630-6F6B-4695-AB3F-DEBB05B7CD3C}"/>
              </a:ext>
            </a:extLst>
          </p:cNvPr>
          <p:cNvSpPr txBox="1"/>
          <p:nvPr/>
        </p:nvSpPr>
        <p:spPr>
          <a:xfrm>
            <a:off x="8584202" y="1823970"/>
            <a:ext cx="3157806" cy="3096135"/>
          </a:xfrm>
          <a:prstGeom prst="rect">
            <a:avLst/>
          </a:prstGeom>
          <a:solidFill>
            <a:srgbClr val="F1BE29"/>
          </a:solidFill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ru-RU" sz="1800" b="1" u="sng" dirty="0">
                <a:solidFill>
                  <a:schemeClr val="lt1"/>
                </a:solidFill>
                <a:latin typeface="+mn-lt"/>
              </a:rPr>
              <a:t>Типы задач</a:t>
            </a:r>
            <a:r>
              <a:rPr lang="ru-RU" sz="1800" b="1" dirty="0">
                <a:solidFill>
                  <a:schemeClr val="lt1"/>
                </a:solidFill>
                <a:latin typeface="+mn-lt"/>
              </a:rPr>
              <a:t>: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lang="ru-RU" sz="1800" b="1" dirty="0">
              <a:solidFill>
                <a:schemeClr val="lt1"/>
              </a:solidFill>
              <a:latin typeface="+mn-lt"/>
            </a:endParaRPr>
          </a:p>
          <a:p>
            <a:pPr marL="285750" marR="0" lvl="0" indent="-28575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lt1"/>
                </a:solidFill>
                <a:latin typeface="+mn-lt"/>
              </a:rPr>
              <a:t>Задачи 1-2 – регрессия (непрерывные свойства);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</a:pPr>
            <a:endParaRPr lang="ru-RU" sz="1800" b="1" dirty="0">
              <a:solidFill>
                <a:schemeClr val="lt1"/>
              </a:solidFill>
              <a:latin typeface="+mn-lt"/>
            </a:endParaRPr>
          </a:p>
          <a:p>
            <a:pPr marL="285750" marR="0" lvl="0" indent="-28575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lt1"/>
                </a:solidFill>
                <a:latin typeface="+mn-lt"/>
              </a:rPr>
              <a:t>Задача 3 – обратная задача (по свойствам предсказать рецептуру);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</a:pPr>
            <a:endParaRPr lang="ru-RU" sz="1800" b="1" dirty="0">
              <a:solidFill>
                <a:schemeClr val="lt1"/>
              </a:solidFill>
              <a:latin typeface="+mn-lt"/>
            </a:endParaRPr>
          </a:p>
          <a:p>
            <a:pPr marL="285750" marR="0" lvl="0" indent="-28575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lt1"/>
                </a:solidFill>
                <a:latin typeface="+mn-lt"/>
              </a:rPr>
              <a:t>Задача 4 – интеграция модели в приложение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lang="ru-RU" sz="1600" b="1" dirty="0">
              <a:solidFill>
                <a:schemeClr val="lt1"/>
              </a:solidFill>
              <a:latin typeface="+mn-lt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066B2AF8-B3BB-4E6C-B4EF-BA91A7149C6E}"/>
              </a:ext>
            </a:extLst>
          </p:cNvPr>
          <p:cNvGrpSpPr/>
          <p:nvPr/>
        </p:nvGrpSpPr>
        <p:grpSpPr>
          <a:xfrm>
            <a:off x="558782" y="2489251"/>
            <a:ext cx="450202" cy="685765"/>
            <a:chOff x="623996" y="1592262"/>
            <a:chExt cx="333947" cy="508681"/>
          </a:xfrm>
        </p:grpSpPr>
        <p:cxnSp>
          <p:nvCxnSpPr>
            <p:cNvPr id="37" name="Google Shape;123;p4">
              <a:extLst>
                <a:ext uri="{FF2B5EF4-FFF2-40B4-BE49-F238E27FC236}">
                  <a16:creationId xmlns:a16="http://schemas.microsoft.com/office/drawing/2014/main" id="{B2BB743C-20D7-4E69-AAE1-54C42970370B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124;p4">
              <a:extLst>
                <a:ext uri="{FF2B5EF4-FFF2-40B4-BE49-F238E27FC236}">
                  <a16:creationId xmlns:a16="http://schemas.microsoft.com/office/drawing/2014/main" id="{A09E8948-234F-49EF-B8ED-B3C480E04917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" name="Google Shape;126;p4">
              <a:extLst>
                <a:ext uri="{FF2B5EF4-FFF2-40B4-BE49-F238E27FC236}">
                  <a16:creationId xmlns:a16="http://schemas.microsoft.com/office/drawing/2014/main" id="{DE776E1C-0C20-43D2-8A38-628879EB82A4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A61F8772-5670-475E-90AF-084D02A24E45}"/>
              </a:ext>
            </a:extLst>
          </p:cNvPr>
          <p:cNvGrpSpPr/>
          <p:nvPr/>
        </p:nvGrpSpPr>
        <p:grpSpPr>
          <a:xfrm>
            <a:off x="558782" y="3443265"/>
            <a:ext cx="450202" cy="685765"/>
            <a:chOff x="623996" y="1592262"/>
            <a:chExt cx="333947" cy="508681"/>
          </a:xfrm>
        </p:grpSpPr>
        <p:cxnSp>
          <p:nvCxnSpPr>
            <p:cNvPr id="41" name="Google Shape;123;p4">
              <a:extLst>
                <a:ext uri="{FF2B5EF4-FFF2-40B4-BE49-F238E27FC236}">
                  <a16:creationId xmlns:a16="http://schemas.microsoft.com/office/drawing/2014/main" id="{31FD4C9E-5F69-4810-A00B-E211610CB36A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124;p4">
              <a:extLst>
                <a:ext uri="{FF2B5EF4-FFF2-40B4-BE49-F238E27FC236}">
                  <a16:creationId xmlns:a16="http://schemas.microsoft.com/office/drawing/2014/main" id="{1B688AC3-F620-4E8E-B8F1-1B14FAE7C0C2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126;p4">
              <a:extLst>
                <a:ext uri="{FF2B5EF4-FFF2-40B4-BE49-F238E27FC236}">
                  <a16:creationId xmlns:a16="http://schemas.microsoft.com/office/drawing/2014/main" id="{87B9060E-A604-4528-B297-A9EBC00AAAD6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90E0740F-EFCD-41F2-8EB0-E752773D0AE6}"/>
              </a:ext>
            </a:extLst>
          </p:cNvPr>
          <p:cNvGrpSpPr/>
          <p:nvPr/>
        </p:nvGrpSpPr>
        <p:grpSpPr>
          <a:xfrm>
            <a:off x="560162" y="4407979"/>
            <a:ext cx="450202" cy="685765"/>
            <a:chOff x="623996" y="1592262"/>
            <a:chExt cx="333947" cy="508681"/>
          </a:xfrm>
        </p:grpSpPr>
        <p:cxnSp>
          <p:nvCxnSpPr>
            <p:cNvPr id="45" name="Google Shape;123;p4">
              <a:extLst>
                <a:ext uri="{FF2B5EF4-FFF2-40B4-BE49-F238E27FC236}">
                  <a16:creationId xmlns:a16="http://schemas.microsoft.com/office/drawing/2014/main" id="{5C8D2F6A-BB2A-49FD-B94C-250EB763B066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" name="Google Shape;124;p4">
              <a:extLst>
                <a:ext uri="{FF2B5EF4-FFF2-40B4-BE49-F238E27FC236}">
                  <a16:creationId xmlns:a16="http://schemas.microsoft.com/office/drawing/2014/main" id="{EB043BAB-1826-41DB-A7FE-AAA09C039F9C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" name="Google Shape;126;p4">
              <a:extLst>
                <a:ext uri="{FF2B5EF4-FFF2-40B4-BE49-F238E27FC236}">
                  <a16:creationId xmlns:a16="http://schemas.microsoft.com/office/drawing/2014/main" id="{24ECB75A-09F9-43A5-8D25-D348344E60BF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2" name="Google Shape;125;p4">
            <a:extLst>
              <a:ext uri="{FF2B5EF4-FFF2-40B4-BE49-F238E27FC236}">
                <a16:creationId xmlns:a16="http://schemas.microsoft.com/office/drawing/2014/main" id="{B392D556-B476-4E1F-958C-31EE7B16300D}"/>
              </a:ext>
            </a:extLst>
          </p:cNvPr>
          <p:cNvSpPr/>
          <p:nvPr/>
        </p:nvSpPr>
        <p:spPr>
          <a:xfrm>
            <a:off x="1370180" y="2591138"/>
            <a:ext cx="621790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1600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Обучить модель прогнозирования прочности при растяжении (МПа)</a:t>
            </a:r>
            <a:endParaRPr lang="ru-RU" sz="1600" dirty="0">
              <a:solidFill>
                <a:srgbClr val="262626"/>
              </a:solidFill>
              <a:latin typeface="ALS Sector Regular" panose="02000000000000000000" pitchFamily="2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53" name="Google Shape;127;p4">
            <a:extLst>
              <a:ext uri="{FF2B5EF4-FFF2-40B4-BE49-F238E27FC236}">
                <a16:creationId xmlns:a16="http://schemas.microsoft.com/office/drawing/2014/main" id="{BCF65B5B-0337-4C73-B9BB-A05F6916D064}"/>
              </a:ext>
            </a:extLst>
          </p:cNvPr>
          <p:cNvSpPr/>
          <p:nvPr/>
        </p:nvSpPr>
        <p:spPr>
          <a:xfrm>
            <a:off x="843937" y="2739873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2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4" name="Google Shape;125;p4">
            <a:extLst>
              <a:ext uri="{FF2B5EF4-FFF2-40B4-BE49-F238E27FC236}">
                <a16:creationId xmlns:a16="http://schemas.microsoft.com/office/drawing/2014/main" id="{4BBDCECC-7AC6-4E39-B4A9-A7C1308CD1E4}"/>
              </a:ext>
            </a:extLst>
          </p:cNvPr>
          <p:cNvSpPr/>
          <p:nvPr/>
        </p:nvSpPr>
        <p:spPr>
          <a:xfrm>
            <a:off x="1370179" y="3508270"/>
            <a:ext cx="621790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Разработать нейронную сеть для рекомендации соотношения матрица-наполнитель </a:t>
            </a:r>
            <a:endParaRPr lang="ru-RU" sz="1600" dirty="0">
              <a:solidFill>
                <a:srgbClr val="262626"/>
              </a:solidFill>
              <a:latin typeface="ALS Sector Regular" panose="02000000000000000000" pitchFamily="2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55" name="Google Shape;127;p4">
            <a:extLst>
              <a:ext uri="{FF2B5EF4-FFF2-40B4-BE49-F238E27FC236}">
                <a16:creationId xmlns:a16="http://schemas.microsoft.com/office/drawing/2014/main" id="{09A3BA78-83A5-439F-80AC-98893E52CA81}"/>
              </a:ext>
            </a:extLst>
          </p:cNvPr>
          <p:cNvSpPr/>
          <p:nvPr/>
        </p:nvSpPr>
        <p:spPr>
          <a:xfrm>
            <a:off x="843937" y="3709719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3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6" name="Google Shape;125;p4">
            <a:extLst>
              <a:ext uri="{FF2B5EF4-FFF2-40B4-BE49-F238E27FC236}">
                <a16:creationId xmlns:a16="http://schemas.microsoft.com/office/drawing/2014/main" id="{3DDF0676-49DA-46BC-9B49-E63651936BD7}"/>
              </a:ext>
            </a:extLst>
          </p:cNvPr>
          <p:cNvSpPr/>
          <p:nvPr/>
        </p:nvSpPr>
        <p:spPr>
          <a:xfrm>
            <a:off x="1370178" y="4581604"/>
            <a:ext cx="621790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</a:rPr>
              <a:t>Создать веб-приложение для практического использования моделей</a:t>
            </a:r>
            <a:endParaRPr lang="ru-RU" sz="1600" dirty="0">
              <a:solidFill>
                <a:srgbClr val="262626"/>
              </a:solidFill>
              <a:latin typeface="ALS Sector Regular" panose="02000000000000000000" pitchFamily="2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57" name="Google Shape;127;p4">
            <a:extLst>
              <a:ext uri="{FF2B5EF4-FFF2-40B4-BE49-F238E27FC236}">
                <a16:creationId xmlns:a16="http://schemas.microsoft.com/office/drawing/2014/main" id="{52BA7844-74CD-4A10-A920-4E6A0D827A2C}"/>
              </a:ext>
            </a:extLst>
          </p:cNvPr>
          <p:cNvSpPr/>
          <p:nvPr/>
        </p:nvSpPr>
        <p:spPr>
          <a:xfrm>
            <a:off x="843937" y="4677149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4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CEB208F7-621F-4826-AC02-D9ACF56C2556}"/>
              </a:ext>
            </a:extLst>
          </p:cNvPr>
          <p:cNvGrpSpPr/>
          <p:nvPr/>
        </p:nvGrpSpPr>
        <p:grpSpPr>
          <a:xfrm>
            <a:off x="558782" y="1503622"/>
            <a:ext cx="450202" cy="685765"/>
            <a:chOff x="623996" y="1592262"/>
            <a:chExt cx="333947" cy="508681"/>
          </a:xfrm>
        </p:grpSpPr>
        <p:cxnSp>
          <p:nvCxnSpPr>
            <p:cNvPr id="61" name="Google Shape;123;p4">
              <a:extLst>
                <a:ext uri="{FF2B5EF4-FFF2-40B4-BE49-F238E27FC236}">
                  <a16:creationId xmlns:a16="http://schemas.microsoft.com/office/drawing/2014/main" id="{C80DFF66-7760-463A-A6E3-7A4A06739A6B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" name="Google Shape;124;p4">
              <a:extLst>
                <a:ext uri="{FF2B5EF4-FFF2-40B4-BE49-F238E27FC236}">
                  <a16:creationId xmlns:a16="http://schemas.microsoft.com/office/drawing/2014/main" id="{537A8DBB-64CB-4C54-9816-C8AB9CEF9F83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126;p4">
              <a:extLst>
                <a:ext uri="{FF2B5EF4-FFF2-40B4-BE49-F238E27FC236}">
                  <a16:creationId xmlns:a16="http://schemas.microsoft.com/office/drawing/2014/main" id="{5EA94F71-5A4A-461B-84A6-89FA43FE7B61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4" name="Google Shape;127;p4">
            <a:extLst>
              <a:ext uri="{FF2B5EF4-FFF2-40B4-BE49-F238E27FC236}">
                <a16:creationId xmlns:a16="http://schemas.microsoft.com/office/drawing/2014/main" id="{52F47E68-BBBA-4D50-92F9-0A84552519B8}"/>
              </a:ext>
            </a:extLst>
          </p:cNvPr>
          <p:cNvSpPr/>
          <p:nvPr/>
        </p:nvSpPr>
        <p:spPr>
          <a:xfrm>
            <a:off x="843937" y="1754244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1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43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</a:t>
            </a:fld>
            <a:endParaRPr lang="ru-RU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8AC1BDB-9797-4A12-B4FC-ED5D4C2B9CD1}"/>
              </a:ext>
            </a:extLst>
          </p:cNvPr>
          <p:cNvGrpSpPr/>
          <p:nvPr/>
        </p:nvGrpSpPr>
        <p:grpSpPr>
          <a:xfrm>
            <a:off x="3167880" y="469292"/>
            <a:ext cx="3563426" cy="753505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 err="1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Пайплайн</a:t>
              </a:r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 работы 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29ED690-926F-4105-AED3-D7D6E358BB85}"/>
              </a:ext>
            </a:extLst>
          </p:cNvPr>
          <p:cNvSpPr/>
          <p:nvPr/>
        </p:nvSpPr>
        <p:spPr>
          <a:xfrm>
            <a:off x="558782" y="1861851"/>
            <a:ext cx="2140351" cy="9584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Данные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2E20E7F-E870-40EE-8AB9-824353EAF58F}"/>
              </a:ext>
            </a:extLst>
          </p:cNvPr>
          <p:cNvSpPr/>
          <p:nvPr/>
        </p:nvSpPr>
        <p:spPr>
          <a:xfrm>
            <a:off x="3355231" y="1861849"/>
            <a:ext cx="2140351" cy="9584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EDA</a:t>
            </a:r>
            <a:endParaRPr lang="ru-RU" b="1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C49AAA2-09DA-4120-BC6D-6F90C144C145}"/>
              </a:ext>
            </a:extLst>
          </p:cNvPr>
          <p:cNvSpPr/>
          <p:nvPr/>
        </p:nvSpPr>
        <p:spPr>
          <a:xfrm>
            <a:off x="6227698" y="1861848"/>
            <a:ext cx="2140351" cy="9584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Предобработка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90E1D4A-160E-4C43-B84F-6BC0E1BBDEC0}"/>
              </a:ext>
            </a:extLst>
          </p:cNvPr>
          <p:cNvSpPr/>
          <p:nvPr/>
        </p:nvSpPr>
        <p:spPr>
          <a:xfrm>
            <a:off x="9100165" y="1861848"/>
            <a:ext cx="2140351" cy="9584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Модели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AD5957E-4072-4D3E-A6F9-525197C89EB7}"/>
              </a:ext>
            </a:extLst>
          </p:cNvPr>
          <p:cNvSpPr/>
          <p:nvPr/>
        </p:nvSpPr>
        <p:spPr>
          <a:xfrm>
            <a:off x="9100165" y="4037686"/>
            <a:ext cx="2140351" cy="9584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Оценка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BEA2C0F-3CE6-4FAF-88EE-FD8751AE0F3A}"/>
              </a:ext>
            </a:extLst>
          </p:cNvPr>
          <p:cNvSpPr/>
          <p:nvPr/>
        </p:nvSpPr>
        <p:spPr>
          <a:xfrm>
            <a:off x="6227698" y="4037686"/>
            <a:ext cx="2140351" cy="9584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Нейросеть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B05DB85-A7C1-468E-A78E-59B5C4DD3850}"/>
              </a:ext>
            </a:extLst>
          </p:cNvPr>
          <p:cNvSpPr/>
          <p:nvPr/>
        </p:nvSpPr>
        <p:spPr>
          <a:xfrm>
            <a:off x="3355231" y="4037685"/>
            <a:ext cx="2140351" cy="9584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Приложение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C17B051-DA37-465B-B280-6C6B8CB43AD6}"/>
              </a:ext>
            </a:extLst>
          </p:cNvPr>
          <p:cNvSpPr/>
          <p:nvPr/>
        </p:nvSpPr>
        <p:spPr>
          <a:xfrm>
            <a:off x="645081" y="4037683"/>
            <a:ext cx="2140351" cy="9584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Репозиторий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702B4331-9294-4D47-8313-4FB754FC0C3E}"/>
              </a:ext>
            </a:extLst>
          </p:cNvPr>
          <p:cNvCxnSpPr/>
          <p:nvPr/>
        </p:nvCxnSpPr>
        <p:spPr>
          <a:xfrm>
            <a:off x="2831335" y="2341081"/>
            <a:ext cx="400130" cy="0"/>
          </a:xfrm>
          <a:prstGeom prst="straightConnector1">
            <a:avLst/>
          </a:prstGeom>
          <a:ln>
            <a:solidFill>
              <a:srgbClr val="0046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BE710E42-DD10-4FBA-BDCF-8BCD66C04C47}"/>
              </a:ext>
            </a:extLst>
          </p:cNvPr>
          <p:cNvCxnSpPr/>
          <p:nvPr/>
        </p:nvCxnSpPr>
        <p:spPr>
          <a:xfrm>
            <a:off x="5695870" y="2341081"/>
            <a:ext cx="400130" cy="0"/>
          </a:xfrm>
          <a:prstGeom prst="straightConnector1">
            <a:avLst/>
          </a:prstGeom>
          <a:ln>
            <a:solidFill>
              <a:srgbClr val="0046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57A03035-6CBF-4D51-9C8D-8648EBA59279}"/>
              </a:ext>
            </a:extLst>
          </p:cNvPr>
          <p:cNvCxnSpPr/>
          <p:nvPr/>
        </p:nvCxnSpPr>
        <p:spPr>
          <a:xfrm>
            <a:off x="8547253" y="2341081"/>
            <a:ext cx="400130" cy="0"/>
          </a:xfrm>
          <a:prstGeom prst="straightConnector1">
            <a:avLst/>
          </a:prstGeom>
          <a:ln>
            <a:solidFill>
              <a:srgbClr val="0046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8AE0143-AABF-4367-ABE7-74C6F8C0BBD8}"/>
              </a:ext>
            </a:extLst>
          </p:cNvPr>
          <p:cNvCxnSpPr>
            <a:cxnSpLocks/>
          </p:cNvCxnSpPr>
          <p:nvPr/>
        </p:nvCxnSpPr>
        <p:spPr>
          <a:xfrm flipH="1">
            <a:off x="10170275" y="3095740"/>
            <a:ext cx="65" cy="661011"/>
          </a:xfrm>
          <a:prstGeom prst="straightConnector1">
            <a:avLst/>
          </a:prstGeom>
          <a:ln>
            <a:solidFill>
              <a:srgbClr val="0046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2F26629F-CD19-42E1-9FBC-D1C028AF79F8}"/>
              </a:ext>
            </a:extLst>
          </p:cNvPr>
          <p:cNvCxnSpPr>
            <a:cxnSpLocks/>
          </p:cNvCxnSpPr>
          <p:nvPr/>
        </p:nvCxnSpPr>
        <p:spPr>
          <a:xfrm flipH="1">
            <a:off x="8539684" y="4516916"/>
            <a:ext cx="407699" cy="0"/>
          </a:xfrm>
          <a:prstGeom prst="straightConnector1">
            <a:avLst/>
          </a:prstGeom>
          <a:ln>
            <a:solidFill>
              <a:srgbClr val="0046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5231A228-80B2-43B0-9CA0-99BD30A012A9}"/>
              </a:ext>
            </a:extLst>
          </p:cNvPr>
          <p:cNvCxnSpPr>
            <a:cxnSpLocks/>
          </p:cNvCxnSpPr>
          <p:nvPr/>
        </p:nvCxnSpPr>
        <p:spPr>
          <a:xfrm flipH="1">
            <a:off x="5688301" y="4526097"/>
            <a:ext cx="407699" cy="0"/>
          </a:xfrm>
          <a:prstGeom prst="straightConnector1">
            <a:avLst/>
          </a:prstGeom>
          <a:ln>
            <a:solidFill>
              <a:srgbClr val="0046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24407C8A-B219-4AFB-B845-CA988E9BB98B}"/>
              </a:ext>
            </a:extLst>
          </p:cNvPr>
          <p:cNvCxnSpPr>
            <a:cxnSpLocks/>
          </p:cNvCxnSpPr>
          <p:nvPr/>
        </p:nvCxnSpPr>
        <p:spPr>
          <a:xfrm flipH="1">
            <a:off x="2892234" y="4526097"/>
            <a:ext cx="407699" cy="0"/>
          </a:xfrm>
          <a:prstGeom prst="straightConnector1">
            <a:avLst/>
          </a:prstGeom>
          <a:ln>
            <a:solidFill>
              <a:srgbClr val="0046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49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7FD5A9C-AA57-42B9-8F69-29229E6D0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3628" y="2637524"/>
            <a:ext cx="11350868" cy="2393750"/>
          </a:xfrm>
        </p:spPr>
        <p:txBody>
          <a:bodyPr>
            <a:normAutofit/>
          </a:bodyPr>
          <a:lstStyle/>
          <a:p>
            <a:pPr marL="76200" indent="0" algn="just">
              <a:buNone/>
            </a:pPr>
            <a:endParaRPr lang="ru-RU" sz="2200" dirty="0"/>
          </a:p>
          <a:p>
            <a:pPr marL="533400" indent="-457200" algn="just">
              <a:buFont typeface="+mj-lt"/>
              <a:buAutoNum type="arabicPeriod"/>
            </a:pPr>
            <a:r>
              <a:rPr lang="es-ES_tradnl" sz="2200" dirty="0"/>
              <a:t>X_bp.xlsx</a:t>
            </a:r>
            <a:r>
              <a:rPr lang="ru-RU" sz="2200" dirty="0"/>
              <a:t> – параметры </a:t>
            </a:r>
            <a:r>
              <a:rPr lang="ru-RU" sz="2200" dirty="0" err="1"/>
              <a:t>базальтопластика</a:t>
            </a:r>
            <a:r>
              <a:rPr lang="ru-RU" sz="2200" dirty="0"/>
              <a:t> (1023 строки, 10 столбцов);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s-ES_tradnl" sz="2200" dirty="0"/>
              <a:t>X_nup.xlsx</a:t>
            </a:r>
            <a:r>
              <a:rPr lang="ru-RU" sz="2200" dirty="0"/>
              <a:t> – параметры нашивок углепластика (1040 строк, 3 столбца).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ru-RU" sz="2200" dirty="0"/>
              <a:t> Объединение </a:t>
            </a:r>
            <a:r>
              <a:rPr lang="en-US" sz="2200" b="1" dirty="0"/>
              <a:t>INNER JOIN </a:t>
            </a:r>
            <a:r>
              <a:rPr lang="ru-RU" sz="2200" dirty="0"/>
              <a:t>по индексу: </a:t>
            </a:r>
          </a:p>
          <a:p>
            <a:pPr marL="76200" indent="0" algn="just">
              <a:buNone/>
            </a:pPr>
            <a:r>
              <a:rPr lang="ru-RU" sz="2200" dirty="0"/>
              <a:t>        итоговый размер объединённого </a:t>
            </a:r>
            <a:r>
              <a:rPr lang="ru-RU" sz="2200" dirty="0" err="1"/>
              <a:t>датасета</a:t>
            </a:r>
            <a:r>
              <a:rPr lang="ru-RU" sz="2200" dirty="0"/>
              <a:t> – 1023 строки, 13 столбцов </a:t>
            </a:r>
          </a:p>
          <a:p>
            <a:pPr marL="76200" indent="0" algn="just">
              <a:buNone/>
            </a:pPr>
            <a:endParaRPr lang="ru-RU" sz="22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6CC3FE-49DC-4E57-BE64-FC71D0FE5E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73628" y="1585314"/>
            <a:ext cx="10565501" cy="602189"/>
          </a:xfrm>
        </p:spPr>
        <p:txBody>
          <a:bodyPr>
            <a:normAutofit fontScale="85000" lnSpcReduction="10000"/>
          </a:bodyPr>
          <a:lstStyle/>
          <a:p>
            <a:r>
              <a:rPr lang="ru-RU" sz="2600" dirty="0">
                <a:solidFill>
                  <a:schemeClr val="bg2">
                    <a:lumMod val="25000"/>
                  </a:schemeClr>
                </a:solidFill>
              </a:rPr>
              <a:t>Два </a:t>
            </a:r>
            <a:r>
              <a:rPr lang="ru-RU" sz="2600" dirty="0" err="1">
                <a:solidFill>
                  <a:schemeClr val="bg2">
                    <a:lumMod val="25000"/>
                  </a:schemeClr>
                </a:solidFill>
              </a:rPr>
              <a:t>датасета</a:t>
            </a:r>
            <a:r>
              <a:rPr lang="ru-RU" sz="2600" dirty="0">
                <a:solidFill>
                  <a:schemeClr val="bg2">
                    <a:lumMod val="25000"/>
                  </a:schemeClr>
                </a:solidFill>
              </a:rPr>
              <a:t> от Центра НТИ «Цифровое материаловедение» МГТУ им. Н.Э. Баумана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A68FC8-8839-4BD0-A8B6-0C8B1924A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431A07B-4120-45A8-87F5-FD0B7543B02C}"/>
              </a:ext>
            </a:extLst>
          </p:cNvPr>
          <p:cNvGrpSpPr/>
          <p:nvPr/>
        </p:nvGrpSpPr>
        <p:grpSpPr>
          <a:xfrm>
            <a:off x="3167880" y="469293"/>
            <a:ext cx="5061720" cy="666000"/>
            <a:chOff x="1476753" y="3499669"/>
            <a:chExt cx="4619247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408C17F-C4A9-45C8-85FF-C29DBCECDC7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Данные для исследования 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8A2D04C4-68FF-4B8C-B3A7-621C55C3D8E2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9DDB7652-1549-4D3B-8E35-D14E582606C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25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 dirty="0"/>
          </a:p>
        </p:txBody>
      </p:sp>
      <p:sp>
        <p:nvSpPr>
          <p:cNvPr id="9" name="Google Shape;173;p7">
            <a:extLst>
              <a:ext uri="{FF2B5EF4-FFF2-40B4-BE49-F238E27FC236}">
                <a16:creationId xmlns:a16="http://schemas.microsoft.com/office/drawing/2014/main" id="{A67C8FEC-09C6-468D-9E95-239BC9E9DFA0}"/>
              </a:ext>
            </a:extLst>
          </p:cNvPr>
          <p:cNvSpPr txBox="1"/>
          <p:nvPr/>
        </p:nvSpPr>
        <p:spPr>
          <a:xfrm>
            <a:off x="701964" y="1655903"/>
            <a:ext cx="6991225" cy="435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200" dirty="0">
                <a:solidFill>
                  <a:srgbClr val="272727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 </a:t>
            </a:r>
            <a:endParaRPr lang="ru-RU" sz="2200" dirty="0">
              <a:solidFill>
                <a:srgbClr val="262626"/>
              </a:solidFill>
              <a:latin typeface="+mn-lt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8AC1BDB-9797-4A12-B4FC-ED5D4C2B9CD1}"/>
              </a:ext>
            </a:extLst>
          </p:cNvPr>
          <p:cNvGrpSpPr/>
          <p:nvPr/>
        </p:nvGrpSpPr>
        <p:grpSpPr>
          <a:xfrm>
            <a:off x="3167879" y="469293"/>
            <a:ext cx="5832901" cy="666000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Разведочный анализ данных 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11" name="Текст 1">
            <a:extLst>
              <a:ext uri="{FF2B5EF4-FFF2-40B4-BE49-F238E27FC236}">
                <a16:creationId xmlns:a16="http://schemas.microsoft.com/office/drawing/2014/main" id="{298DA9CE-90A4-4AEA-B5AB-EB6452B31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858" y="1548803"/>
            <a:ext cx="6424941" cy="3378864"/>
          </a:xfrm>
        </p:spPr>
        <p:txBody>
          <a:bodyPr>
            <a:normAutofit/>
          </a:bodyPr>
          <a:lstStyle/>
          <a:p>
            <a:pPr marL="76200" indent="0" algn="just">
              <a:buNone/>
            </a:pPr>
            <a:endParaRPr lang="ru-RU" sz="2200" dirty="0"/>
          </a:p>
          <a:p>
            <a:pPr marL="533400" indent="-457200" algn="just">
              <a:buFont typeface="+mj-lt"/>
              <a:buAutoNum type="arabicPeriod"/>
            </a:pPr>
            <a:r>
              <a:rPr lang="ru-RU" sz="2200" dirty="0"/>
              <a:t>Пропуски и дубликаты отсутствуют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ru-RU" sz="2200" dirty="0"/>
              <a:t>Построены графики (</a:t>
            </a:r>
            <a:r>
              <a:rPr lang="ru-RU" sz="2200" dirty="0" err="1"/>
              <a:t>боксплоты</a:t>
            </a:r>
            <a:r>
              <a:rPr lang="ru-RU" sz="2200" dirty="0"/>
              <a:t>, гистограммы распределения, попарные графики рассеяния и матрица корреляции)</a:t>
            </a:r>
          </a:p>
          <a:p>
            <a:pPr marL="533400" indent="-457200" algn="just">
              <a:buFont typeface="+mj-lt"/>
              <a:buAutoNum type="arabicPeriod"/>
            </a:pPr>
            <a:endParaRPr lang="ru-RU" sz="2200" dirty="0"/>
          </a:p>
          <a:p>
            <a:pPr marL="533400" indent="-457200" algn="just">
              <a:buFont typeface="+mj-lt"/>
              <a:buAutoNum type="arabicPeriod"/>
            </a:pPr>
            <a:endParaRPr lang="ru-RU" sz="2200" dirty="0"/>
          </a:p>
          <a:p>
            <a:pPr marL="76200" indent="0" algn="just">
              <a:buNone/>
            </a:pPr>
            <a:endParaRPr lang="ru-RU" sz="2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87CEEB-FCAD-4E03-8048-53DA5720C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807" y="1344062"/>
            <a:ext cx="8227835" cy="512565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09B63C-1E4D-45CB-90C5-E639DD056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292" y="1250415"/>
            <a:ext cx="7476780" cy="560758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DC96099-77AB-4C64-915D-D15096A0A5B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707" y="1290899"/>
            <a:ext cx="7345738" cy="530649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E60B35-E64A-44FD-965F-BFD0BB7D8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9302" y="1117979"/>
            <a:ext cx="7917340" cy="587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1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3167880" y="469293"/>
            <a:ext cx="4609138" cy="666000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Предобработка данных 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15" name="Текст 4">
            <a:extLst>
              <a:ext uri="{FF2B5EF4-FFF2-40B4-BE49-F238E27FC236}">
                <a16:creationId xmlns:a16="http://schemas.microsoft.com/office/drawing/2014/main" id="{6D021BB2-E9CB-49AF-A2D9-B7D9A96ED62A}"/>
              </a:ext>
            </a:extLst>
          </p:cNvPr>
          <p:cNvSpPr txBox="1">
            <a:spLocks/>
          </p:cNvSpPr>
          <p:nvPr/>
        </p:nvSpPr>
        <p:spPr>
          <a:xfrm>
            <a:off x="273628" y="2350955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6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2300" b="0" i="0" u="none" strike="noStrike" cap="none" baseline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533400" indent="-457200" algn="just">
              <a:buAutoNum type="arabicPeriod"/>
            </a:pPr>
            <a:r>
              <a:rPr lang="ru-RU" sz="2200" dirty="0">
                <a:solidFill>
                  <a:schemeClr val="tx1"/>
                </a:solidFill>
              </a:rPr>
              <a:t>Удаление выбросов -  </a:t>
            </a:r>
            <a:r>
              <a:rPr lang="en-US" sz="2200" dirty="0">
                <a:solidFill>
                  <a:schemeClr val="tx1"/>
                </a:solidFill>
              </a:rPr>
              <a:t>IQR-</a:t>
            </a:r>
            <a:r>
              <a:rPr lang="ru-RU" sz="2200" dirty="0">
                <a:solidFill>
                  <a:schemeClr val="tx1"/>
                </a:solidFill>
              </a:rPr>
              <a:t>метод </a:t>
            </a:r>
          </a:p>
          <a:p>
            <a:pPr algn="just"/>
            <a:r>
              <a:rPr lang="ru-RU" sz="2200" dirty="0">
                <a:solidFill>
                  <a:schemeClr val="tx1"/>
                </a:solidFill>
              </a:rPr>
              <a:t>       (1023 строки -</a:t>
            </a:r>
            <a:r>
              <a:rPr lang="en-US" sz="2200" dirty="0">
                <a:solidFill>
                  <a:schemeClr val="tx1"/>
                </a:solidFill>
              </a:rPr>
              <a:t>&gt;</a:t>
            </a:r>
            <a:r>
              <a:rPr lang="ru-RU" sz="2200" dirty="0">
                <a:solidFill>
                  <a:schemeClr val="tx1"/>
                </a:solidFill>
              </a:rPr>
              <a:t> 921 строка)</a:t>
            </a:r>
          </a:p>
          <a:p>
            <a:pPr marL="533400" indent="-457200" algn="just">
              <a:buAutoNum type="arabicPeriod"/>
            </a:pPr>
            <a:r>
              <a:rPr lang="ru-RU" sz="2200" dirty="0">
                <a:solidFill>
                  <a:schemeClr val="tx1"/>
                </a:solidFill>
              </a:rPr>
              <a:t>Нормализация – </a:t>
            </a:r>
            <a:r>
              <a:rPr lang="en-US" sz="2200" dirty="0" err="1">
                <a:solidFill>
                  <a:schemeClr val="tx1"/>
                </a:solidFill>
              </a:rPr>
              <a:t>MinMaxScaler</a:t>
            </a:r>
            <a:endParaRPr lang="ru-RU" sz="2200" dirty="0">
              <a:solidFill>
                <a:schemeClr val="tx1"/>
              </a:solidFill>
            </a:endParaRPr>
          </a:p>
          <a:p>
            <a:pPr marL="533400" indent="-457200" algn="just">
              <a:buAutoNum type="arabicPeriod"/>
            </a:pPr>
            <a:r>
              <a:rPr lang="ru-RU" sz="2200" dirty="0">
                <a:solidFill>
                  <a:schemeClr val="tx1"/>
                </a:solidFill>
              </a:rPr>
              <a:t>Разделение на </a:t>
            </a:r>
            <a:r>
              <a:rPr lang="en-US" sz="2200" dirty="0">
                <a:solidFill>
                  <a:schemeClr val="tx1"/>
                </a:solidFill>
              </a:rPr>
              <a:t>train/test (70/30)</a:t>
            </a:r>
            <a:endParaRPr lang="ru-RU" sz="2200" dirty="0">
              <a:solidFill>
                <a:schemeClr val="tx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28C6BCC-BCA5-4058-8664-C8BC47BFF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304" y="1238824"/>
            <a:ext cx="7065696" cy="438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4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9280711C-2262-4089-92EE-9BEACCC60C4C}"/>
              </a:ext>
            </a:extLst>
          </p:cNvPr>
          <p:cNvGrpSpPr/>
          <p:nvPr/>
        </p:nvGrpSpPr>
        <p:grpSpPr>
          <a:xfrm>
            <a:off x="3167879" y="453208"/>
            <a:ext cx="6217909" cy="795559"/>
            <a:chOff x="1476753" y="3483585"/>
            <a:chExt cx="4619247" cy="682084"/>
          </a:xfrm>
        </p:grpSpPr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id="{E2535886-3476-4B40-9706-6797B77905C0}"/>
                </a:ext>
              </a:extLst>
            </p:cNvPr>
            <p:cNvSpPr/>
            <p:nvPr/>
          </p:nvSpPr>
          <p:spPr>
            <a:xfrm>
              <a:off x="1476753" y="3483585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Модели прогнозирования свойств 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69" name="Прямоугольник 58">
              <a:extLst>
                <a:ext uri="{FF2B5EF4-FFF2-40B4-BE49-F238E27FC236}">
                  <a16:creationId xmlns:a16="http://schemas.microsoft.com/office/drawing/2014/main" id="{96789138-2397-49AA-BF3A-A6B5B90E884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70" name="Прямоугольник 58">
              <a:extLst>
                <a:ext uri="{FF2B5EF4-FFF2-40B4-BE49-F238E27FC236}">
                  <a16:creationId xmlns:a16="http://schemas.microsoft.com/office/drawing/2014/main" id="{DA239952-60E1-45EB-BDF0-422CC4CF7E4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555008-558A-4705-ADA6-A99A535D9A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</a:t>
            </a:fld>
            <a:endParaRPr lang="ru-RU" dirty="0"/>
          </a:p>
        </p:txBody>
      </p:sp>
      <p:sp>
        <p:nvSpPr>
          <p:cNvPr id="34" name="Google Shape;149;p4">
            <a:extLst>
              <a:ext uri="{FF2B5EF4-FFF2-40B4-BE49-F238E27FC236}">
                <a16:creationId xmlns:a16="http://schemas.microsoft.com/office/drawing/2014/main" id="{E8524630-6F6B-4695-AB3F-DEBB05B7CD3C}"/>
              </a:ext>
            </a:extLst>
          </p:cNvPr>
          <p:cNvSpPr txBox="1"/>
          <p:nvPr/>
        </p:nvSpPr>
        <p:spPr>
          <a:xfrm>
            <a:off x="8470377" y="1526991"/>
            <a:ext cx="3607789" cy="3339954"/>
          </a:xfrm>
          <a:prstGeom prst="rect">
            <a:avLst/>
          </a:prstGeom>
          <a:solidFill>
            <a:srgbClr val="F1BE29"/>
          </a:solidFill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ru-RU" sz="1800" b="1" u="sng" dirty="0">
                <a:solidFill>
                  <a:schemeClr val="lt1"/>
                </a:solidFill>
                <a:latin typeface="+mn-lt"/>
              </a:rPr>
              <a:t>Список моделей:</a:t>
            </a:r>
            <a:endParaRPr lang="ru-RU" sz="1800" b="1" dirty="0">
              <a:solidFill>
                <a:schemeClr val="lt1"/>
              </a:solidFill>
              <a:latin typeface="+mn-l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lang="ru-RU" sz="1800" b="1" dirty="0">
              <a:solidFill>
                <a:schemeClr val="lt1"/>
              </a:solidFill>
              <a:latin typeface="+mn-lt"/>
            </a:endParaRPr>
          </a:p>
          <a:p>
            <a:pPr marL="285750" lvl="0" indent="-285750">
              <a:lnSpc>
                <a:spcPct val="90000"/>
              </a:lnSpc>
              <a:buClr>
                <a:schemeClr val="lt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lt1"/>
                </a:solidFill>
                <a:latin typeface="+mn-lt"/>
              </a:rPr>
              <a:t>Множественная линейная регрессия</a:t>
            </a:r>
          </a:p>
          <a:p>
            <a:pPr marL="285750" lvl="0" indent="-285750">
              <a:lnSpc>
                <a:spcPct val="90000"/>
              </a:lnSpc>
              <a:buClr>
                <a:schemeClr val="lt1"/>
              </a:buClr>
              <a:buSzPts val="1400"/>
              <a:buFont typeface="Arial" panose="020B0604020202020204" pitchFamily="34" charset="0"/>
              <a:buChar char="•"/>
            </a:pPr>
            <a:endParaRPr lang="ru-RU" sz="1800" b="1" dirty="0">
              <a:solidFill>
                <a:schemeClr val="lt1"/>
              </a:solidFill>
              <a:latin typeface="+mn-lt"/>
            </a:endParaRPr>
          </a:p>
          <a:p>
            <a:pPr marL="285750" lvl="0" indent="-285750">
              <a:lnSpc>
                <a:spcPct val="90000"/>
              </a:lnSpc>
              <a:buClr>
                <a:schemeClr val="lt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lt1"/>
                </a:solidFill>
                <a:latin typeface="+mn-lt"/>
              </a:rPr>
              <a:t>Случайный лес (</a:t>
            </a:r>
            <a:r>
              <a:rPr lang="ru-RU" sz="1800" b="1" dirty="0" err="1">
                <a:solidFill>
                  <a:schemeClr val="lt1"/>
                </a:solidFill>
                <a:latin typeface="+mn-lt"/>
              </a:rPr>
              <a:t>Random</a:t>
            </a:r>
            <a:r>
              <a:rPr lang="ru-RU" sz="1800" b="1" dirty="0">
                <a:solidFill>
                  <a:schemeClr val="lt1"/>
                </a:solidFill>
                <a:latin typeface="+mn-lt"/>
              </a:rPr>
              <a:t> </a:t>
            </a:r>
            <a:r>
              <a:rPr lang="ru-RU" sz="1800" b="1" dirty="0" err="1">
                <a:solidFill>
                  <a:schemeClr val="lt1"/>
                </a:solidFill>
                <a:latin typeface="+mn-lt"/>
              </a:rPr>
              <a:t>Forest</a:t>
            </a:r>
            <a:r>
              <a:rPr lang="ru-RU" sz="1800" b="1" dirty="0">
                <a:solidFill>
                  <a:schemeClr val="lt1"/>
                </a:solidFill>
                <a:latin typeface="+mn-lt"/>
              </a:rPr>
              <a:t>)</a:t>
            </a:r>
          </a:p>
          <a:p>
            <a:pPr marL="285750" lvl="0" indent="-285750">
              <a:lnSpc>
                <a:spcPct val="90000"/>
              </a:lnSpc>
              <a:buClr>
                <a:schemeClr val="lt1"/>
              </a:buClr>
              <a:buSzPts val="1400"/>
              <a:buFont typeface="Arial" panose="020B0604020202020204" pitchFamily="34" charset="0"/>
              <a:buChar char="•"/>
            </a:pPr>
            <a:endParaRPr lang="ru-RU" sz="1800" b="1" dirty="0">
              <a:solidFill>
                <a:schemeClr val="lt1"/>
              </a:solidFill>
              <a:latin typeface="+mn-lt"/>
            </a:endParaRPr>
          </a:p>
          <a:p>
            <a:pPr marL="285750" lvl="0" indent="-285750">
              <a:lnSpc>
                <a:spcPct val="90000"/>
              </a:lnSpc>
              <a:buClr>
                <a:schemeClr val="lt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lt1"/>
                </a:solidFill>
                <a:latin typeface="+mn-lt"/>
              </a:rPr>
              <a:t>Градиентный </a:t>
            </a:r>
            <a:r>
              <a:rPr lang="ru-RU" sz="1800" b="1" dirty="0" err="1">
                <a:solidFill>
                  <a:schemeClr val="lt1"/>
                </a:solidFill>
                <a:latin typeface="+mn-lt"/>
              </a:rPr>
              <a:t>бустинг</a:t>
            </a:r>
            <a:r>
              <a:rPr lang="ru-RU" sz="1800" b="1" dirty="0">
                <a:solidFill>
                  <a:schemeClr val="lt1"/>
                </a:solidFill>
                <a:latin typeface="+mn-lt"/>
              </a:rPr>
              <a:t> (</a:t>
            </a:r>
            <a:r>
              <a:rPr lang="ru-RU" sz="1800" b="1" dirty="0" err="1">
                <a:solidFill>
                  <a:schemeClr val="lt1"/>
                </a:solidFill>
                <a:latin typeface="+mn-lt"/>
              </a:rPr>
              <a:t>XGBoost</a:t>
            </a:r>
            <a:r>
              <a:rPr lang="ru-RU" sz="1800" b="1" dirty="0">
                <a:solidFill>
                  <a:schemeClr val="lt1"/>
                </a:solidFill>
                <a:latin typeface="+mn-lt"/>
              </a:rPr>
              <a:t>)</a:t>
            </a:r>
          </a:p>
          <a:p>
            <a:pPr marL="285750" lvl="0" indent="-285750">
              <a:lnSpc>
                <a:spcPct val="90000"/>
              </a:lnSpc>
              <a:buClr>
                <a:schemeClr val="lt1"/>
              </a:buClr>
              <a:buSzPts val="1400"/>
              <a:buFont typeface="Arial" panose="020B0604020202020204" pitchFamily="34" charset="0"/>
              <a:buChar char="•"/>
            </a:pPr>
            <a:endParaRPr lang="ru-RU" sz="1800" b="1" dirty="0">
              <a:solidFill>
                <a:schemeClr val="lt1"/>
              </a:solidFill>
              <a:latin typeface="+mn-lt"/>
            </a:endParaRPr>
          </a:p>
          <a:p>
            <a:pPr marL="285750" lvl="0" indent="-285750">
              <a:lnSpc>
                <a:spcPct val="90000"/>
              </a:lnSpc>
              <a:buClr>
                <a:schemeClr val="lt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lt1"/>
                </a:solidFill>
                <a:latin typeface="+mn-lt"/>
              </a:rPr>
              <a:t>Метод опорных векторов (SVR)</a:t>
            </a:r>
          </a:p>
          <a:p>
            <a:pPr marL="285750" lvl="0" indent="-285750">
              <a:lnSpc>
                <a:spcPct val="90000"/>
              </a:lnSpc>
              <a:buClr>
                <a:schemeClr val="lt1"/>
              </a:buClr>
              <a:buSzPts val="1400"/>
              <a:buFont typeface="Arial" panose="020B0604020202020204" pitchFamily="34" charset="0"/>
              <a:buChar char="•"/>
            </a:pPr>
            <a:endParaRPr lang="ru-RU" sz="1800" b="1" dirty="0">
              <a:solidFill>
                <a:schemeClr val="lt1"/>
              </a:solidFill>
              <a:latin typeface="+mn-lt"/>
            </a:endParaRPr>
          </a:p>
          <a:p>
            <a:pPr marL="285750" lvl="0" indent="-285750">
              <a:lnSpc>
                <a:spcPct val="90000"/>
              </a:lnSpc>
              <a:buClr>
                <a:schemeClr val="lt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lt1"/>
                </a:solidFill>
                <a:latin typeface="+mn-lt"/>
              </a:rPr>
              <a:t>K-ближайших соседей (KNN)</a:t>
            </a:r>
            <a:endParaRPr lang="ru-RU" sz="1600" b="1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07180C4-76C4-49EF-8CBC-C98278B2523E}"/>
              </a:ext>
            </a:extLst>
          </p:cNvPr>
          <p:cNvSpPr/>
          <p:nvPr/>
        </p:nvSpPr>
        <p:spPr>
          <a:xfrm>
            <a:off x="273628" y="1760907"/>
            <a:ext cx="74921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Обучено 5 моделей для каждой целевой переменной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Поиск </a:t>
            </a:r>
            <a:r>
              <a:rPr lang="ru-RU" sz="1800" dirty="0" err="1">
                <a:latin typeface="+mn-lt"/>
              </a:rPr>
              <a:t>гиперпараметров</a:t>
            </a:r>
            <a:r>
              <a:rPr lang="ru-RU" sz="1800" dirty="0">
                <a:latin typeface="+mn-lt"/>
              </a:rPr>
              <a:t> — </a:t>
            </a:r>
            <a:r>
              <a:rPr lang="ru-RU" sz="1800" dirty="0" err="1">
                <a:latin typeface="+mn-lt"/>
              </a:rPr>
              <a:t>GridSearchCV</a:t>
            </a:r>
            <a:r>
              <a:rPr lang="ru-RU" sz="1800" dirty="0">
                <a:latin typeface="+mn-lt"/>
              </a:rPr>
              <a:t>, 10-кратная кросс-валидация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Разделение данных — 70% обучение / 30% тест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Метрики оценки — MAE, RMSE, R²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3C8AF33-E049-4F40-B96E-29FA5A0C279C}"/>
              </a:ext>
            </a:extLst>
          </p:cNvPr>
          <p:cNvSpPr/>
          <p:nvPr/>
        </p:nvSpPr>
        <p:spPr>
          <a:xfrm>
            <a:off x="4954772" y="3625702"/>
            <a:ext cx="1903228" cy="47846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Данные (70</a:t>
            </a:r>
            <a:r>
              <a:rPr lang="en-US" dirty="0"/>
              <a:t>/</a:t>
            </a:r>
            <a:r>
              <a:rPr lang="ru-RU" dirty="0"/>
              <a:t>30)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672F064-D486-4686-B8F2-D5A1EA8862F1}"/>
              </a:ext>
            </a:extLst>
          </p:cNvPr>
          <p:cNvSpPr/>
          <p:nvPr/>
        </p:nvSpPr>
        <p:spPr>
          <a:xfrm>
            <a:off x="4954772" y="4436202"/>
            <a:ext cx="1903228" cy="47846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 моделей обучаются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10E34942-279F-4F93-9C2A-8001FFB9C679}"/>
              </a:ext>
            </a:extLst>
          </p:cNvPr>
          <p:cNvSpPr/>
          <p:nvPr/>
        </p:nvSpPr>
        <p:spPr>
          <a:xfrm>
            <a:off x="4954772" y="5246702"/>
            <a:ext cx="1903228" cy="47846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GridSearchCV</a:t>
            </a:r>
            <a:r>
              <a:rPr lang="en-US" dirty="0"/>
              <a:t> (cv = 10)</a:t>
            </a:r>
            <a:endParaRPr lang="ru-RU" dirty="0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4852674D-360A-4AAC-905F-C193AA2E78AB}"/>
              </a:ext>
            </a:extLst>
          </p:cNvPr>
          <p:cNvSpPr/>
          <p:nvPr/>
        </p:nvSpPr>
        <p:spPr>
          <a:xfrm>
            <a:off x="4965405" y="6057202"/>
            <a:ext cx="1903228" cy="47846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Оценка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585BFE81-10F0-486C-A50F-8F4D6F4F05C2}"/>
              </a:ext>
            </a:extLst>
          </p:cNvPr>
          <p:cNvCxnSpPr/>
          <p:nvPr/>
        </p:nvCxnSpPr>
        <p:spPr>
          <a:xfrm>
            <a:off x="5917019" y="4104167"/>
            <a:ext cx="0" cy="332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E2632AEC-7B16-4022-8BF3-7A814BF04520}"/>
              </a:ext>
            </a:extLst>
          </p:cNvPr>
          <p:cNvCxnSpPr/>
          <p:nvPr/>
        </p:nvCxnSpPr>
        <p:spPr>
          <a:xfrm>
            <a:off x="5927652" y="4914667"/>
            <a:ext cx="0" cy="332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7CBA5A39-E0EF-4A93-BBCD-CA1AE6F4AAC0}"/>
              </a:ext>
            </a:extLst>
          </p:cNvPr>
          <p:cNvCxnSpPr/>
          <p:nvPr/>
        </p:nvCxnSpPr>
        <p:spPr>
          <a:xfrm>
            <a:off x="5917019" y="5725167"/>
            <a:ext cx="0" cy="332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02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D6C889-48F4-4B26-954C-96F87149FC3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69961" y="1534266"/>
            <a:ext cx="5508000" cy="4507045"/>
          </a:xfrm>
        </p:spPr>
        <p:txBody>
          <a:bodyPr>
            <a:normAutofit/>
          </a:bodyPr>
          <a:lstStyle/>
          <a:p>
            <a:pPr marL="76200" indent="0" algn="ctr">
              <a:buNone/>
            </a:pPr>
            <a:r>
              <a:rPr lang="ru-RU" sz="2200" dirty="0"/>
              <a:t>Модуль упругости при растяжении (ГПа)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DC4FB7F-80E5-439C-8598-169F703070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83956" y="1534265"/>
            <a:ext cx="5508000" cy="4507045"/>
          </a:xfrm>
        </p:spPr>
        <p:txBody>
          <a:bodyPr>
            <a:normAutofit/>
          </a:bodyPr>
          <a:lstStyle/>
          <a:p>
            <a:pPr marL="76200" indent="0" algn="ctr">
              <a:buNone/>
            </a:pPr>
            <a:r>
              <a:rPr lang="ru-RU" sz="2200" dirty="0"/>
              <a:t>Прочность при растяжении (МПа) 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3167880" y="469293"/>
            <a:ext cx="6358892" cy="666000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Оценка моделей прогнозирования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122D36-21A0-401F-94CC-2AC119DCA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108" y="2248393"/>
            <a:ext cx="3709706" cy="267475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3FD5071-3FED-417B-A104-AD1295D54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775" y="2248394"/>
            <a:ext cx="4052248" cy="2674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A42A48-67C0-40D7-A09D-269AF215C8BC}"/>
              </a:ext>
            </a:extLst>
          </p:cNvPr>
          <p:cNvSpPr txBox="1"/>
          <p:nvPr/>
        </p:nvSpPr>
        <p:spPr>
          <a:xfrm>
            <a:off x="6858000" y="7527851"/>
            <a:ext cx="457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ru-RU" sz="2300" dirty="0">
              <a:latin typeface="+mn-lt"/>
            </a:endParaRPr>
          </a:p>
        </p:txBody>
      </p:sp>
      <p:sp>
        <p:nvSpPr>
          <p:cNvPr id="18" name="Google Shape;149;p4">
            <a:extLst>
              <a:ext uri="{FF2B5EF4-FFF2-40B4-BE49-F238E27FC236}">
                <a16:creationId xmlns:a16="http://schemas.microsoft.com/office/drawing/2014/main" id="{DB69989C-E3D1-4C06-8E7F-8AB7943A7FC2}"/>
              </a:ext>
            </a:extLst>
          </p:cNvPr>
          <p:cNvSpPr txBox="1"/>
          <p:nvPr/>
        </p:nvSpPr>
        <p:spPr>
          <a:xfrm>
            <a:off x="3988262" y="5056103"/>
            <a:ext cx="4185394" cy="1653203"/>
          </a:xfrm>
          <a:prstGeom prst="rect">
            <a:avLst/>
          </a:prstGeom>
          <a:solidFill>
            <a:srgbClr val="F1BE29"/>
          </a:solidFill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ru-RU" sz="1600" b="1" dirty="0">
                <a:solidFill>
                  <a:schemeClr val="lt1"/>
                </a:solidFill>
                <a:latin typeface="+mn-lt"/>
              </a:rPr>
              <a:t>Выводы:</a:t>
            </a:r>
          </a:p>
          <a:p>
            <a:r>
              <a:rPr lang="ru-RU" sz="1600" dirty="0">
                <a:solidFill>
                  <a:schemeClr val="bg1"/>
                </a:solidFill>
                <a:latin typeface="+mn-lt"/>
              </a:rPr>
              <a:t>1. Все модели дают R² ≈ 0</a:t>
            </a:r>
          </a:p>
          <a:p>
            <a:r>
              <a:rPr lang="ru-RU" sz="1600" dirty="0">
                <a:solidFill>
                  <a:schemeClr val="bg1"/>
                </a:solidFill>
                <a:latin typeface="+mn-lt"/>
              </a:rPr>
              <a:t>2. Лучшие: SVR для модуля (R² = 0.005), линейная регрессия для прочности (R² = 0.001)</a:t>
            </a:r>
          </a:p>
          <a:p>
            <a:r>
              <a:rPr lang="ru-RU" sz="1600" dirty="0">
                <a:solidFill>
                  <a:schemeClr val="bg1"/>
                </a:solidFill>
                <a:latin typeface="+mn-lt"/>
              </a:rPr>
              <a:t>3. Модели не превосходят </a:t>
            </a:r>
            <a:r>
              <a:rPr lang="ru-RU" sz="1600" dirty="0" err="1">
                <a:solidFill>
                  <a:schemeClr val="bg1"/>
                </a:solidFill>
                <a:latin typeface="+mn-lt"/>
              </a:rPr>
              <a:t>baseline</a:t>
            </a:r>
            <a:endParaRPr lang="ru-RU" sz="1600" dirty="0">
              <a:solidFill>
                <a:schemeClr val="bg1"/>
              </a:solidFill>
              <a:latin typeface="+mn-l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lang="ru-RU" sz="1600" b="1" dirty="0">
              <a:solidFill>
                <a:schemeClr val="l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5067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D6C889-48F4-4B26-954C-96F87149FC3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73628" y="1390247"/>
            <a:ext cx="7193683" cy="2474207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Тип:</a:t>
            </a:r>
            <a:r>
              <a:rPr lang="ru-RU" dirty="0"/>
              <a:t> </a:t>
            </a:r>
            <a:r>
              <a:rPr lang="ru-RU" dirty="0" err="1"/>
              <a:t>полносвязная</a:t>
            </a:r>
            <a:r>
              <a:rPr lang="ru-RU" dirty="0"/>
              <a:t> нейронная сеть (</a:t>
            </a:r>
            <a:r>
              <a:rPr lang="es-ES_tradnl" dirty="0"/>
              <a:t>MLP)</a:t>
            </a:r>
            <a:endParaRPr lang="ru-RU" dirty="0"/>
          </a:p>
          <a:p>
            <a:endParaRPr lang="es-ES_tradnl" dirty="0"/>
          </a:p>
          <a:p>
            <a:r>
              <a:rPr lang="ru-RU" b="1" dirty="0"/>
              <a:t>Архитектура:</a:t>
            </a:r>
            <a:r>
              <a:rPr lang="ru-RU" dirty="0"/>
              <a:t> 12 → 64 → 32 → 1</a:t>
            </a:r>
          </a:p>
          <a:p>
            <a:endParaRPr lang="ru-RU" dirty="0"/>
          </a:p>
          <a:p>
            <a:r>
              <a:rPr lang="ru-RU" b="1" dirty="0"/>
              <a:t>Регуляризация:</a:t>
            </a:r>
            <a:r>
              <a:rPr lang="ru-RU" dirty="0"/>
              <a:t> </a:t>
            </a:r>
            <a:r>
              <a:rPr lang="es-ES_tradnl" dirty="0"/>
              <a:t>Dropout 0.2 </a:t>
            </a:r>
            <a:r>
              <a:rPr lang="ru-RU" dirty="0"/>
              <a:t>после каждого скрытого слоя</a:t>
            </a:r>
          </a:p>
          <a:p>
            <a:endParaRPr lang="ru-RU" dirty="0"/>
          </a:p>
          <a:p>
            <a:r>
              <a:rPr lang="ru-RU" b="1" dirty="0"/>
              <a:t>Обучение:</a:t>
            </a:r>
            <a:r>
              <a:rPr lang="ru-RU" dirty="0"/>
              <a:t> 200 эпох, </a:t>
            </a:r>
            <a:r>
              <a:rPr lang="es-ES_tradnl" dirty="0"/>
              <a:t>batch_size = 32, validation_split = 0.2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Нейронная сеть 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3F2FF3-D9D5-4D3F-BAE0-91B4489124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899"/>
          <a:stretch/>
        </p:blipFill>
        <p:spPr>
          <a:xfrm>
            <a:off x="7089249" y="1135293"/>
            <a:ext cx="5102751" cy="320515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9F026A0-AD17-41B8-8607-82BBCFA13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952" y="3800280"/>
            <a:ext cx="8966569" cy="3049628"/>
          </a:xfrm>
          <a:prstGeom prst="rect">
            <a:avLst/>
          </a:prstGeom>
        </p:spPr>
      </p:pic>
      <p:cxnSp>
        <p:nvCxnSpPr>
          <p:cNvPr id="17" name="Google Shape;213;p9">
            <a:extLst>
              <a:ext uri="{FF2B5EF4-FFF2-40B4-BE49-F238E27FC236}">
                <a16:creationId xmlns:a16="http://schemas.microsoft.com/office/drawing/2014/main" id="{D7C50D6B-9B7A-49DD-B3D9-EF0848883615}"/>
              </a:ext>
            </a:extLst>
          </p:cNvPr>
          <p:cNvCxnSpPr>
            <a:cxnSpLocks/>
          </p:cNvCxnSpPr>
          <p:nvPr/>
        </p:nvCxnSpPr>
        <p:spPr>
          <a:xfrm>
            <a:off x="281442" y="1481464"/>
            <a:ext cx="0" cy="2208034"/>
          </a:xfrm>
          <a:prstGeom prst="straightConnector1">
            <a:avLst/>
          </a:prstGeom>
          <a:noFill/>
          <a:ln w="28575" cap="flat" cmpd="sng">
            <a:solidFill>
              <a:srgbClr val="065CAB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1182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10;p9">
            <a:extLst>
              <a:ext uri="{FF2B5EF4-FFF2-40B4-BE49-F238E27FC236}">
                <a16:creationId xmlns:a16="http://schemas.microsoft.com/office/drawing/2014/main" id="{A399EAE0-0E1E-4B54-8527-D2B3D6A61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338" y="4441989"/>
            <a:ext cx="10823324" cy="121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888888"/>
              </a:buClr>
              <a:buSzPts val="1600"/>
              <a:buNone/>
            </a:pPr>
            <a:r>
              <a:rPr lang="ru-RU" sz="1600" dirty="0">
                <a:sym typeface="Arial"/>
              </a:rPr>
              <a:t>Модель не лучше </a:t>
            </a:r>
            <a:r>
              <a:rPr lang="ru-RU" sz="1600" dirty="0" err="1">
                <a:sym typeface="Arial"/>
              </a:rPr>
              <a:t>baseline</a:t>
            </a:r>
            <a:endParaRPr lang="ru-RU" sz="1600" dirty="0">
              <a:sym typeface="Arial"/>
            </a:endParaRPr>
          </a:p>
          <a:p>
            <a:pPr marL="0" lvl="0" indent="0">
              <a:spcBef>
                <a:spcPts val="0"/>
              </a:spcBef>
              <a:buClr>
                <a:srgbClr val="888888"/>
              </a:buClr>
              <a:buSzPts val="1600"/>
              <a:buNone/>
            </a:pPr>
            <a:endParaRPr lang="ru-RU" sz="1600" dirty="0">
              <a:sym typeface="Arial"/>
            </a:endParaRPr>
          </a:p>
          <a:p>
            <a:pPr marL="0" lvl="0" indent="0">
              <a:spcBef>
                <a:spcPts val="0"/>
              </a:spcBef>
              <a:buClr>
                <a:srgbClr val="888888"/>
              </a:buClr>
              <a:buSzPts val="1600"/>
              <a:buNone/>
            </a:pPr>
            <a:r>
              <a:rPr lang="ru-RU" sz="1600" dirty="0">
                <a:sym typeface="Arial"/>
              </a:rPr>
              <a:t>R² отрицательный – модель хуже среднего</a:t>
            </a:r>
          </a:p>
          <a:p>
            <a:pPr marL="0" lvl="0" indent="0">
              <a:spcBef>
                <a:spcPts val="0"/>
              </a:spcBef>
              <a:buClr>
                <a:srgbClr val="888888"/>
              </a:buClr>
              <a:buSzPts val="1600"/>
              <a:buNone/>
            </a:pPr>
            <a:endParaRPr lang="ru-RU" sz="1600" dirty="0">
              <a:sym typeface="Arial"/>
            </a:endParaRPr>
          </a:p>
          <a:p>
            <a:pPr marL="0" lvl="0" indent="0">
              <a:spcBef>
                <a:spcPts val="0"/>
              </a:spcBef>
              <a:buClr>
                <a:srgbClr val="888888"/>
              </a:buClr>
              <a:buSzPts val="1600"/>
              <a:buNone/>
            </a:pPr>
            <a:r>
              <a:rPr lang="ru-RU" sz="1600" dirty="0">
                <a:sym typeface="Arial"/>
              </a:rPr>
              <a:t>Причина: слабые связи признаков с целевой переменной</a:t>
            </a:r>
          </a:p>
          <a:p>
            <a:pPr marL="0" lvl="0" indent="0">
              <a:spcBef>
                <a:spcPts val="0"/>
              </a:spcBef>
              <a:buClr>
                <a:srgbClr val="888888"/>
              </a:buClr>
              <a:buSzPts val="1600"/>
              <a:buNone/>
            </a:pPr>
            <a:endParaRPr lang="ru-RU" sz="1600" dirty="0">
              <a:sym typeface="Arial"/>
            </a:endParaRPr>
          </a:p>
          <a:p>
            <a:pPr marL="0" lvl="0" indent="0">
              <a:spcBef>
                <a:spcPts val="0"/>
              </a:spcBef>
              <a:buClr>
                <a:srgbClr val="888888"/>
              </a:buClr>
              <a:buSzPts val="1600"/>
              <a:buNone/>
            </a:pPr>
            <a:r>
              <a:rPr lang="ru-RU" sz="1600" dirty="0">
                <a:sym typeface="Arial"/>
              </a:rPr>
              <a:t>Модель «схлопнулась» в константу 0.4857</a:t>
            </a:r>
            <a:endParaRPr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555008-558A-4705-ADA6-A99A535D9A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</a:t>
            </a:fld>
            <a:endParaRPr lang="ru-RU" dirty="0"/>
          </a:p>
        </p:txBody>
      </p:sp>
      <p:cxnSp>
        <p:nvCxnSpPr>
          <p:cNvPr id="9" name="Google Shape;213;p9">
            <a:extLst>
              <a:ext uri="{FF2B5EF4-FFF2-40B4-BE49-F238E27FC236}">
                <a16:creationId xmlns:a16="http://schemas.microsoft.com/office/drawing/2014/main" id="{0C480937-F08C-4A40-946A-9FA8434D6EA0}"/>
              </a:ext>
            </a:extLst>
          </p:cNvPr>
          <p:cNvCxnSpPr>
            <a:cxnSpLocks/>
          </p:cNvCxnSpPr>
          <p:nvPr/>
        </p:nvCxnSpPr>
        <p:spPr>
          <a:xfrm>
            <a:off x="558782" y="4362887"/>
            <a:ext cx="0" cy="1753829"/>
          </a:xfrm>
          <a:prstGeom prst="straightConnector1">
            <a:avLst/>
          </a:prstGeom>
          <a:noFill/>
          <a:ln w="28575" cap="flat" cmpd="sng">
            <a:solidFill>
              <a:srgbClr val="065CAB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" name="Google Shape;214;p9">
            <a:extLst>
              <a:ext uri="{FF2B5EF4-FFF2-40B4-BE49-F238E27FC236}">
                <a16:creationId xmlns:a16="http://schemas.microsoft.com/office/drawing/2014/main" id="{8E660AC8-2945-4581-B887-9EB868DF2EA6}"/>
              </a:ext>
            </a:extLst>
          </p:cNvPr>
          <p:cNvCxnSpPr>
            <a:cxnSpLocks/>
          </p:cNvCxnSpPr>
          <p:nvPr/>
        </p:nvCxnSpPr>
        <p:spPr>
          <a:xfrm>
            <a:off x="559293" y="6116717"/>
            <a:ext cx="825047" cy="7092"/>
          </a:xfrm>
          <a:prstGeom prst="straightConnector1">
            <a:avLst/>
          </a:prstGeom>
          <a:noFill/>
          <a:ln w="28575" cap="flat" cmpd="sng">
            <a:solidFill>
              <a:srgbClr val="065CAB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" name="Google Shape;215;p9">
            <a:extLst>
              <a:ext uri="{FF2B5EF4-FFF2-40B4-BE49-F238E27FC236}">
                <a16:creationId xmlns:a16="http://schemas.microsoft.com/office/drawing/2014/main" id="{7057A822-034F-4B62-9A1A-674FAE24E888}"/>
              </a:ext>
            </a:extLst>
          </p:cNvPr>
          <p:cNvCxnSpPr>
            <a:cxnSpLocks/>
          </p:cNvCxnSpPr>
          <p:nvPr/>
        </p:nvCxnSpPr>
        <p:spPr>
          <a:xfrm>
            <a:off x="558781" y="4355793"/>
            <a:ext cx="825559" cy="0"/>
          </a:xfrm>
          <a:prstGeom prst="straightConnector1">
            <a:avLst/>
          </a:prstGeom>
          <a:noFill/>
          <a:ln w="28575" cap="flat" cmpd="sng">
            <a:solidFill>
              <a:srgbClr val="065CAB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324A62E-A256-4354-8835-CFA3C09136B2}"/>
              </a:ext>
            </a:extLst>
          </p:cNvPr>
          <p:cNvGrpSpPr/>
          <p:nvPr/>
        </p:nvGrpSpPr>
        <p:grpSpPr>
          <a:xfrm>
            <a:off x="3167880" y="469293"/>
            <a:ext cx="5487022" cy="666000"/>
            <a:chOff x="1476753" y="3499669"/>
            <a:chExt cx="4619247" cy="666000"/>
          </a:xfrm>
        </p:grpSpPr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E589737A-BA23-46A0-A36B-BE16171D8E61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Результаты нейронной сети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6" name="Прямоугольник 58">
              <a:extLst>
                <a:ext uri="{FF2B5EF4-FFF2-40B4-BE49-F238E27FC236}">
                  <a16:creationId xmlns:a16="http://schemas.microsoft.com/office/drawing/2014/main" id="{1C3517E3-F6E0-4F52-AEE5-DC80364E562C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7" name="Прямоугольник 58">
              <a:extLst>
                <a:ext uri="{FF2B5EF4-FFF2-40B4-BE49-F238E27FC236}">
                  <a16:creationId xmlns:a16="http://schemas.microsoft.com/office/drawing/2014/main" id="{CEC88DFA-D330-4EAE-893E-A44623A39FD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CB81749-BD55-41FF-BF1B-76046163A987}"/>
              </a:ext>
            </a:extLst>
          </p:cNvPr>
          <p:cNvSpPr txBox="1"/>
          <p:nvPr/>
        </p:nvSpPr>
        <p:spPr>
          <a:xfrm>
            <a:off x="1384340" y="1670302"/>
            <a:ext cx="223971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300" dirty="0">
                <a:latin typeface="+mn-lt"/>
              </a:rPr>
              <a:t>Нейронная сеть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8E8390-2525-45BB-A119-04B2E0EDB475}"/>
              </a:ext>
            </a:extLst>
          </p:cNvPr>
          <p:cNvSpPr txBox="1"/>
          <p:nvPr/>
        </p:nvSpPr>
        <p:spPr>
          <a:xfrm>
            <a:off x="6482088" y="1666506"/>
            <a:ext cx="2803973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300" dirty="0">
                <a:latin typeface="+mn-lt"/>
              </a:rPr>
              <a:t>Сравнение с </a:t>
            </a:r>
            <a:r>
              <a:rPr lang="en-US" sz="2300" dirty="0">
                <a:latin typeface="+mn-lt"/>
              </a:rPr>
              <a:t>baseline</a:t>
            </a:r>
            <a:endParaRPr lang="ru-RU" sz="2300" dirty="0">
              <a:latin typeface="+mn-lt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99B504F-1EB2-4F15-B454-3C9F23376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40" y="2500260"/>
            <a:ext cx="1999905" cy="96424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590A96A-A499-4FCF-988A-328610B67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893" y="2496464"/>
            <a:ext cx="4494339" cy="96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8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A68FC8-8839-4BD0-A8B6-0C8B1924A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12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431A07B-4120-45A8-87F5-FD0B7543B02C}"/>
              </a:ext>
            </a:extLst>
          </p:cNvPr>
          <p:cNvGrpSpPr/>
          <p:nvPr/>
        </p:nvGrpSpPr>
        <p:grpSpPr>
          <a:xfrm>
            <a:off x="3167880" y="469293"/>
            <a:ext cx="5561450" cy="666000"/>
            <a:chOff x="1476753" y="3499669"/>
            <a:chExt cx="4619247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408C17F-C4A9-45C8-85FF-C29DBCECDC7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Разработка веб-приложения 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8A2D04C4-68FF-4B8C-B3A7-621C55C3D8E2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9DDB7652-1549-4D3B-8E35-D14E582606C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52E7649-0A5A-4CDA-83FD-1D2EAC23C9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843" t="10684"/>
          <a:stretch/>
        </p:blipFill>
        <p:spPr>
          <a:xfrm>
            <a:off x="8931922" y="1029833"/>
            <a:ext cx="3189042" cy="5358971"/>
          </a:xfrm>
          <a:prstGeom prst="rect">
            <a:avLst/>
          </a:prstGeom>
        </p:spPr>
      </p:pic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526DDC6D-7FA2-44D1-AB1B-47D745362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012596"/>
              </p:ext>
            </p:extLst>
          </p:nvPr>
        </p:nvGraphicFramePr>
        <p:xfrm>
          <a:off x="558782" y="1698779"/>
          <a:ext cx="6522502" cy="1690500"/>
        </p:xfrm>
        <a:graphic>
          <a:graphicData uri="http://schemas.openxmlformats.org/drawingml/2006/table">
            <a:tbl>
              <a:tblPr firstRow="1" firstCol="1" bandRow="1"/>
              <a:tblGrid>
                <a:gridCol w="3261251">
                  <a:extLst>
                    <a:ext uri="{9D8B030D-6E8A-4147-A177-3AD203B41FA5}">
                      <a16:colId xmlns:a16="http://schemas.microsoft.com/office/drawing/2014/main" val="775346779"/>
                    </a:ext>
                  </a:extLst>
                </a:gridCol>
                <a:gridCol w="3261251">
                  <a:extLst>
                    <a:ext uri="{9D8B030D-6E8A-4147-A177-3AD203B41FA5}">
                      <a16:colId xmlns:a16="http://schemas.microsoft.com/office/drawing/2014/main" val="623907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057400" algn="l"/>
                        </a:tabLs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Файл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057400" algn="l"/>
                        </a:tabLs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Назначение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8957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057400" algn="l"/>
                        </a:tabLs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main.py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057400" algn="l"/>
                        </a:tabLs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Код 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FastAPI-</a:t>
                      </a: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приложения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0612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057400" algn="l"/>
                        </a:tabLs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nn_matrix_filler.keras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057400" algn="l"/>
                        </a:tabLs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Обученная нейронная сеть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800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057400" algn="l"/>
                        </a:tabLs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scaler_minmax.pkl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057400" algn="l"/>
                        </a:tabLs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Сохранённый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нормализатор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655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057400" algn="l"/>
                        </a:tabLs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feature_order.pkl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057400" algn="l"/>
                        </a:tabLs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Порядок входных признаков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288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057400" algn="l"/>
                        </a:tabLs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requirements.txt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057400" algn="l"/>
                        </a:tabLs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Список зависимостей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Python 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9747460"/>
                  </a:ext>
                </a:extLst>
              </a:tr>
            </a:tbl>
          </a:graphicData>
        </a:graphic>
      </p:graphicFrame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B677070-9ABE-4342-8E62-A186DC65F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2" y="4180065"/>
            <a:ext cx="4255377" cy="16460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EB6877-A0FB-4F18-973E-8B8BDCBA026A}"/>
              </a:ext>
            </a:extLst>
          </p:cNvPr>
          <p:cNvSpPr txBox="1"/>
          <p:nvPr/>
        </p:nvSpPr>
        <p:spPr>
          <a:xfrm>
            <a:off x="558782" y="5826128"/>
            <a:ext cx="50674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Результат успешного тестирования API: код 200, прогноз 0.4857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4619DA-3718-43DC-BED5-1BAAA73BA0EC}"/>
              </a:ext>
            </a:extLst>
          </p:cNvPr>
          <p:cNvSpPr txBox="1"/>
          <p:nvPr/>
        </p:nvSpPr>
        <p:spPr>
          <a:xfrm>
            <a:off x="558782" y="3429000"/>
            <a:ext cx="6457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Структура проекта: код, модель, 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нормализатор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порядок признаков, зависимости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96252E-73A5-45AD-B102-7ED914A0A33D}"/>
              </a:ext>
            </a:extLst>
          </p:cNvPr>
          <p:cNvSpPr txBox="1"/>
          <p:nvPr/>
        </p:nvSpPr>
        <p:spPr>
          <a:xfrm>
            <a:off x="9352083" y="6357068"/>
            <a:ext cx="2348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Веб-интерфейс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47421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96CC3FE-49DC-4E57-BE64-FC71D0FE5E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73628" y="1549667"/>
            <a:ext cx="10565501" cy="602189"/>
          </a:xfrm>
        </p:spPr>
        <p:txBody>
          <a:bodyPr>
            <a:normAutofit fontScale="92500"/>
          </a:bodyPr>
          <a:lstStyle/>
          <a:p>
            <a:r>
              <a:rPr lang="ru-RU" sz="2600" dirty="0">
                <a:solidFill>
                  <a:schemeClr val="bg2">
                    <a:lumMod val="25000"/>
                  </a:schemeClr>
                </a:solidFill>
              </a:rPr>
              <a:t>Ссылка на </a:t>
            </a:r>
            <a:r>
              <a:rPr lang="en-US" sz="2600" dirty="0">
                <a:solidFill>
                  <a:schemeClr val="bg2">
                    <a:lumMod val="25000"/>
                  </a:schemeClr>
                </a:solidFill>
              </a:rPr>
              <a:t>GitHub</a:t>
            </a:r>
            <a:r>
              <a:rPr lang="ru-RU" sz="2600" dirty="0">
                <a:solidFill>
                  <a:schemeClr val="bg2">
                    <a:lumMod val="25000"/>
                  </a:schemeClr>
                </a:solidFill>
              </a:rPr>
              <a:t>:  </a:t>
            </a:r>
            <a:r>
              <a:rPr lang="es-ES_tradnl" sz="2600" dirty="0">
                <a:solidFill>
                  <a:schemeClr val="bg2">
                    <a:lumMod val="25000"/>
                  </a:schemeClr>
                </a:solidFill>
              </a:rPr>
              <a:t>https://github.com/melnichenko-ds/Composite-Materials</a:t>
            </a:r>
            <a:endParaRPr lang="ru-RU" sz="2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A68FC8-8839-4BD0-A8B6-0C8B1924A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13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431A07B-4120-45A8-87F5-FD0B7543B02C}"/>
              </a:ext>
            </a:extLst>
          </p:cNvPr>
          <p:cNvGrpSpPr/>
          <p:nvPr/>
        </p:nvGrpSpPr>
        <p:grpSpPr>
          <a:xfrm>
            <a:off x="3167880" y="469293"/>
            <a:ext cx="3094697" cy="666000"/>
            <a:chOff x="1476753" y="3499669"/>
            <a:chExt cx="4619247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408C17F-C4A9-45C8-85FF-C29DBCECDC7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Репозиторий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8A2D04C4-68FF-4B8C-B3A7-621C55C3D8E2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9DDB7652-1549-4D3B-8E35-D14E582606C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056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96CC3FE-49DC-4E57-BE64-FC71D0FE5E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8910" y="2249574"/>
            <a:ext cx="4936325" cy="2787160"/>
          </a:xfrm>
          <a:ln>
            <a:solidFill>
              <a:schemeClr val="accent1"/>
            </a:solidFill>
          </a:ln>
        </p:spPr>
        <p:txBody>
          <a:bodyPr>
            <a:normAutofit fontScale="25000" lnSpcReduction="20000"/>
          </a:bodyPr>
          <a:lstStyle/>
          <a:p>
            <a:r>
              <a:rPr lang="ru-RU" sz="6400" b="1" u="sng" dirty="0">
                <a:solidFill>
                  <a:schemeClr val="accent1">
                    <a:lumMod val="75000"/>
                  </a:schemeClr>
                </a:solidFill>
              </a:rPr>
              <a:t>Блок 1. Выполненные задачи</a:t>
            </a:r>
          </a:p>
          <a:p>
            <a:endParaRPr lang="ru-RU" sz="29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ru-RU" sz="5600" dirty="0">
                <a:solidFill>
                  <a:schemeClr val="accent1">
                    <a:lumMod val="75000"/>
                  </a:schemeClr>
                </a:solidFill>
              </a:rPr>
              <a:t>✅ Обучить модели прогнозирования модуля упругости и прочности</a:t>
            </a:r>
          </a:p>
          <a:p>
            <a:endParaRPr lang="ru-RU" sz="5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ru-RU" sz="5600" dirty="0">
                <a:solidFill>
                  <a:schemeClr val="accent1">
                    <a:lumMod val="75000"/>
                  </a:schemeClr>
                </a:solidFill>
              </a:rPr>
              <a:t>✅ Разработать нейронную сеть для рекомендации соотношения</a:t>
            </a:r>
          </a:p>
          <a:p>
            <a:endParaRPr lang="ru-RU" sz="5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ru-RU" sz="5600" dirty="0">
                <a:solidFill>
                  <a:schemeClr val="accent1">
                    <a:lumMod val="75000"/>
                  </a:schemeClr>
                </a:solidFill>
              </a:rPr>
              <a:t>✅ Создать веб-приложение</a:t>
            </a:r>
          </a:p>
          <a:p>
            <a:endParaRPr lang="ru-RU" sz="5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ru-RU" sz="5600" dirty="0">
                <a:solidFill>
                  <a:schemeClr val="accent1">
                    <a:lumMod val="75000"/>
                  </a:schemeClr>
                </a:solidFill>
              </a:rPr>
              <a:t>✅ Разместить код в репозитории</a:t>
            </a:r>
          </a:p>
          <a:p>
            <a:endParaRPr lang="ru-RU" sz="2600" dirty="0">
              <a:solidFill>
                <a:schemeClr val="bg2">
                  <a:lumMod val="25000"/>
                </a:schemeClr>
              </a:solidFill>
            </a:endParaRPr>
          </a:p>
          <a:p>
            <a:endParaRPr lang="ru-RU" sz="2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A68FC8-8839-4BD0-A8B6-0C8B1924A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14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431A07B-4120-45A8-87F5-FD0B7543B02C}"/>
              </a:ext>
            </a:extLst>
          </p:cNvPr>
          <p:cNvGrpSpPr/>
          <p:nvPr/>
        </p:nvGrpSpPr>
        <p:grpSpPr>
          <a:xfrm>
            <a:off x="3167880" y="469293"/>
            <a:ext cx="3084064" cy="666000"/>
            <a:chOff x="1476753" y="3499669"/>
            <a:chExt cx="4619247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408C17F-C4A9-45C8-85FF-C29DBCECDC7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Заключение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8A2D04C4-68FF-4B8C-B3A7-621C55C3D8E2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9DDB7652-1549-4D3B-8E35-D14E582606C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39D379E-CF20-44BD-99A6-66639BA875B8}"/>
              </a:ext>
            </a:extLst>
          </p:cNvPr>
          <p:cNvSpPr txBox="1"/>
          <p:nvPr/>
        </p:nvSpPr>
        <p:spPr>
          <a:xfrm>
            <a:off x="6096000" y="1317373"/>
            <a:ext cx="5288054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u-RU" sz="1600" b="1" u="sng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Блок 2. Ключевые результаты</a:t>
            </a:r>
          </a:p>
          <a:p>
            <a:endParaRPr lang="ru-RU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Модели для свойств: не превзошли базовую модель (R² ≈ 0)</a:t>
            </a:r>
          </a:p>
          <a:p>
            <a:endParaRPr lang="ru-RU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Нейросеть: R² = −0.01 (не превзошла базовую модель)</a:t>
            </a:r>
          </a:p>
          <a:p>
            <a:endParaRPr lang="ru-RU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Приложение: работает корректно (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FastAPI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+ веб-интерфейс)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6756C7C-14D1-4C8D-94F0-72FCC5494170}"/>
              </a:ext>
            </a:extLst>
          </p:cNvPr>
          <p:cNvSpPr/>
          <p:nvPr/>
        </p:nvSpPr>
        <p:spPr>
          <a:xfrm>
            <a:off x="5858604" y="4113404"/>
            <a:ext cx="6096000" cy="184665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ru-RU" sz="1600" b="1" u="sng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Блок 3. Ценность работы</a:t>
            </a:r>
          </a:p>
          <a:p>
            <a:endParaRPr lang="ru-RU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Продемонстрирован полный цикл 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Data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Science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: EDA → модели → деплой</a:t>
            </a:r>
          </a:p>
          <a:p>
            <a:endParaRPr lang="ru-RU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Выявлены ограничения исходных данных: слабые корреляции</a:t>
            </a:r>
          </a:p>
          <a:p>
            <a:endParaRPr lang="ru-RU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Создана основа для дальнейших исследований: код, приложение, репозиторий</a:t>
            </a:r>
          </a:p>
        </p:txBody>
      </p:sp>
    </p:spTree>
    <p:extLst>
      <p:ext uri="{BB962C8B-B14F-4D97-AF65-F5344CB8AC3E}">
        <p14:creationId xmlns:p14="http://schemas.microsoft.com/office/powerpoint/2010/main" val="323726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If,kjyVUNE_28012021">
  <a:themeElements>
    <a:clrScheme name="МГТУ10128">
      <a:dk1>
        <a:srgbClr val="000000"/>
      </a:dk1>
      <a:lt1>
        <a:srgbClr val="FFFFFF"/>
      </a:lt1>
      <a:dk2>
        <a:srgbClr val="062646"/>
      </a:dk2>
      <a:lt2>
        <a:srgbClr val="E3F0FD"/>
      </a:lt2>
      <a:accent1>
        <a:srgbClr val="0E5DAB"/>
      </a:accent1>
      <a:accent2>
        <a:srgbClr val="7BC6DF"/>
      </a:accent2>
      <a:accent3>
        <a:srgbClr val="F99D27"/>
      </a:accent3>
      <a:accent4>
        <a:srgbClr val="BDD7EE"/>
      </a:accent4>
      <a:accent5>
        <a:srgbClr val="FFC000"/>
      </a:accent5>
      <a:accent6>
        <a:srgbClr val="A5A5A5"/>
      </a:accent6>
      <a:hlink>
        <a:srgbClr val="1F75E2"/>
      </a:hlink>
      <a:folHlink>
        <a:srgbClr val="FA34DE"/>
      </a:folHlink>
    </a:clrScheme>
    <a:fontScheme name="Основная">
      <a:majorFont>
        <a:latin typeface="ALS Sector Bold"/>
        <a:ea typeface=""/>
        <a:cs typeface=""/>
      </a:majorFont>
      <a:minorFont>
        <a:latin typeface="ALS Sector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300" dirty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1075</TotalTime>
  <Words>669</Words>
  <Application>Microsoft Office PowerPoint</Application>
  <PresentationFormat>Широкоэкранный</PresentationFormat>
  <Paragraphs>159</Paragraphs>
  <Slides>15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Noto Sans Symbols</vt:lpstr>
      <vt:lpstr>Arial</vt:lpstr>
      <vt:lpstr>Open Sans</vt:lpstr>
      <vt:lpstr>Times New Roman</vt:lpstr>
      <vt:lpstr>ALS Sector Bold</vt:lpstr>
      <vt:lpstr>ALS Sector Regular</vt:lpstr>
      <vt:lpstr>If,kjyVUNE_28012021</vt:lpstr>
      <vt:lpstr>Прогнозирование конечных свойств композиционных материалов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Фомина Ольга</dc:creator>
  <cp:lastModifiedBy>Maria</cp:lastModifiedBy>
  <cp:revision>100</cp:revision>
  <dcterms:created xsi:type="dcterms:W3CDTF">2021-02-24T09:03:25Z</dcterms:created>
  <dcterms:modified xsi:type="dcterms:W3CDTF">2026-10-02T11:20:14Z</dcterms:modified>
</cp:coreProperties>
</file>